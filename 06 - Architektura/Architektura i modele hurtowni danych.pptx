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97" r:id="rId4"/>
    <p:sldId id="298" r:id="rId5"/>
    <p:sldId id="299" r:id="rId6"/>
    <p:sldId id="300" r:id="rId7"/>
    <p:sldId id="301" r:id="rId8"/>
    <p:sldId id="302" r:id="rId9"/>
    <p:sldId id="303" r:id="rId10"/>
    <p:sldId id="261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311" r:id="rId19"/>
    <p:sldId id="312" r:id="rId20"/>
    <p:sldId id="313" r:id="rId21"/>
    <p:sldId id="314" r:id="rId22"/>
    <p:sldId id="315" r:id="rId23"/>
    <p:sldId id="316" r:id="rId24"/>
    <p:sldId id="317" r:id="rId25"/>
    <p:sldId id="318" r:id="rId26"/>
    <p:sldId id="319" r:id="rId27"/>
    <p:sldId id="320" r:id="rId28"/>
    <p:sldId id="321" r:id="rId29"/>
    <p:sldId id="295" r:id="rId30"/>
    <p:sldId id="323" r:id="rId31"/>
    <p:sldId id="324" r:id="rId32"/>
    <p:sldId id="325" r:id="rId33"/>
    <p:sldId id="326" r:id="rId34"/>
    <p:sldId id="322" r:id="rId35"/>
    <p:sldId id="328" r:id="rId36"/>
    <p:sldId id="329" r:id="rId37"/>
    <p:sldId id="330" r:id="rId38"/>
    <p:sldId id="331" r:id="rId39"/>
    <p:sldId id="332" r:id="rId40"/>
    <p:sldId id="333" r:id="rId41"/>
    <p:sldId id="334" r:id="rId42"/>
    <p:sldId id="335" r:id="rId43"/>
    <p:sldId id="337" r:id="rId44"/>
    <p:sldId id="338" r:id="rId45"/>
    <p:sldId id="339" r:id="rId46"/>
    <p:sldId id="340" r:id="rId47"/>
    <p:sldId id="341" r:id="rId48"/>
    <p:sldId id="336" r:id="rId49"/>
    <p:sldId id="342" r:id="rId50"/>
    <p:sldId id="327" r:id="rId51"/>
    <p:sldId id="344" r:id="rId52"/>
    <p:sldId id="345" r:id="rId53"/>
    <p:sldId id="346" r:id="rId54"/>
    <p:sldId id="347" r:id="rId55"/>
    <p:sldId id="348" r:id="rId56"/>
    <p:sldId id="349" r:id="rId57"/>
    <p:sldId id="343" r:id="rId58"/>
    <p:sldId id="296" r:id="rId59"/>
    <p:sldId id="259" r:id="rId60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7E48"/>
    <a:srgbClr val="D6D0C9"/>
    <a:srgbClr val="FFCC9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65" y="10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zemyslaw Starosta" userId="45f988447864b3e6" providerId="LiveId" clId="{F03EAEFD-908B-4458-9CFE-E641CAF539F5}"/>
    <pc:docChg chg="undo custSel addSld delSld modSld sldOrd">
      <pc:chgData name="Przemyslaw Starosta" userId="45f988447864b3e6" providerId="LiveId" clId="{F03EAEFD-908B-4458-9CFE-E641CAF539F5}" dt="2026-06-19T10:47:43.287" v="4639" actId="1076"/>
      <pc:docMkLst>
        <pc:docMk/>
      </pc:docMkLst>
      <pc:sldChg chg="modSp mod">
        <pc:chgData name="Przemyslaw Starosta" userId="45f988447864b3e6" providerId="LiveId" clId="{F03EAEFD-908B-4458-9CFE-E641CAF539F5}" dt="2026-06-19T10:47:43.287" v="4639" actId="1076"/>
        <pc:sldMkLst>
          <pc:docMk/>
          <pc:sldMk cId="2719074457" sldId="256"/>
        </pc:sldMkLst>
        <pc:spChg chg="mod">
          <ac:chgData name="Przemyslaw Starosta" userId="45f988447864b3e6" providerId="LiveId" clId="{F03EAEFD-908B-4458-9CFE-E641CAF539F5}" dt="2026-06-19T10:47:43.287" v="4639" actId="1076"/>
          <ac:spMkLst>
            <pc:docMk/>
            <pc:sldMk cId="2719074457" sldId="256"/>
            <ac:spMk id="3" creationId="{A8E0AD0C-60D7-E8CB-0D33-5EDCEED5E53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8A7DE6-9A06-45AD-7AEE-F2388DE8C3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21477DB1-94D1-7D29-D4F9-8288D11A00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9323727E-3A20-EC42-368A-5035923CE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D0FC6C74-8990-2F1F-FCD7-26F4193DF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82724735-EE0F-CA4E-2155-6B1A2513A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6528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900AFA3-E82F-15F5-7016-282D2DFE3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68D0DC3-AB1A-522E-2DE2-B418853ED6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72B92754-EF94-863C-129A-B641F28B6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48BD8AF8-CCA3-764B-5DF6-9D4E0C6B7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30000656-167B-3D4D-B9D1-D2690D834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641473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FF696C2-B436-0F8C-D4AB-D09AB5B4E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A5BD3D6E-55BD-52B1-F59D-0AA57F05AE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B2E1925-005A-75C3-56AC-BA32417AE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BAAFD1C-DA39-D38C-47ED-92EE5566C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6CBF6983-3825-3E0C-596A-1768B8262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093356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5FAE33A-AAF0-D412-69CD-71F4C38108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1816C02-7789-1F33-AD93-B8CBC071F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0464B15D-EDAE-3A92-3049-BBFFE63319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593E73DA-10D4-28A3-FC89-03E91DF34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3D7F1C98-70ED-55AA-751E-80A23F3B3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7C288F2A-9E1C-9A0B-3FF2-FDCE03EE9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225835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91F7411-8C32-7D61-943E-A27A2C986E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61A0435F-C436-F59C-22B4-8B9997204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>
            <a:extLst>
              <a:ext uri="{FF2B5EF4-FFF2-40B4-BE49-F238E27FC236}">
                <a16:creationId xmlns:a16="http://schemas.microsoft.com/office/drawing/2014/main" id="{2F9830E5-0ADC-7C51-5154-3C9B3EA82D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>
            <a:extLst>
              <a:ext uri="{FF2B5EF4-FFF2-40B4-BE49-F238E27FC236}">
                <a16:creationId xmlns:a16="http://schemas.microsoft.com/office/drawing/2014/main" id="{C0D7D100-8EDF-694C-F40E-22A41BF13C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>
            <a:extLst>
              <a:ext uri="{FF2B5EF4-FFF2-40B4-BE49-F238E27FC236}">
                <a16:creationId xmlns:a16="http://schemas.microsoft.com/office/drawing/2014/main" id="{DD7EAAC9-7586-69DD-0B17-3985C359A0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>
            <a:extLst>
              <a:ext uri="{FF2B5EF4-FFF2-40B4-BE49-F238E27FC236}">
                <a16:creationId xmlns:a16="http://schemas.microsoft.com/office/drawing/2014/main" id="{7019EBCB-C7E1-85B0-3761-B028C1865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8" name="Symbol zastępczy stopki 7">
            <a:extLst>
              <a:ext uri="{FF2B5EF4-FFF2-40B4-BE49-F238E27FC236}">
                <a16:creationId xmlns:a16="http://schemas.microsoft.com/office/drawing/2014/main" id="{E254E299-5D10-18C6-DB1B-760D6F540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>
            <a:extLst>
              <a:ext uri="{FF2B5EF4-FFF2-40B4-BE49-F238E27FC236}">
                <a16:creationId xmlns:a16="http://schemas.microsoft.com/office/drawing/2014/main" id="{BC6554B6-815D-365F-669E-590EAC1F7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666020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F5DA725-F4A0-DC78-B64A-20F07C046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>
            <a:extLst>
              <a:ext uri="{FF2B5EF4-FFF2-40B4-BE49-F238E27FC236}">
                <a16:creationId xmlns:a16="http://schemas.microsoft.com/office/drawing/2014/main" id="{A8DBE630-AE1F-232C-43AB-8FED81D134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4" name="Symbol zastępczy stopki 3">
            <a:extLst>
              <a:ext uri="{FF2B5EF4-FFF2-40B4-BE49-F238E27FC236}">
                <a16:creationId xmlns:a16="http://schemas.microsoft.com/office/drawing/2014/main" id="{D6E69322-B72D-5230-E26F-CEC06308C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>
            <a:extLst>
              <a:ext uri="{FF2B5EF4-FFF2-40B4-BE49-F238E27FC236}">
                <a16:creationId xmlns:a16="http://schemas.microsoft.com/office/drawing/2014/main" id="{674B4023-E652-A745-84BE-0A3DC6DD3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89242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>
            <a:extLst>
              <a:ext uri="{FF2B5EF4-FFF2-40B4-BE49-F238E27FC236}">
                <a16:creationId xmlns:a16="http://schemas.microsoft.com/office/drawing/2014/main" id="{464D8BB8-DAD8-981B-B500-FA14AA4AF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3" name="Symbol zastępczy stopki 2">
            <a:extLst>
              <a:ext uri="{FF2B5EF4-FFF2-40B4-BE49-F238E27FC236}">
                <a16:creationId xmlns:a16="http://schemas.microsoft.com/office/drawing/2014/main" id="{84B0FF66-C364-CF30-5F07-430AADB32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>
            <a:extLst>
              <a:ext uri="{FF2B5EF4-FFF2-40B4-BE49-F238E27FC236}">
                <a16:creationId xmlns:a16="http://schemas.microsoft.com/office/drawing/2014/main" id="{70353151-F42F-F52E-4B90-4E9A4C6F5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55934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E43F1D-9D7C-2794-10C9-86A5CAEEF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3EADC73-0E01-9D16-4E7D-D6E2FC156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44B74A69-FBE4-88D4-8A23-9DE1A0373D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CAF6618B-C9F5-4949-F63C-667F9F8D78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84DE9CCA-B949-9ABC-587D-4716728434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8AA2E04D-578D-662D-5860-1D2D4C49A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44504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A54A54E-84F4-17B5-CE79-13184211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>
            <a:extLst>
              <a:ext uri="{FF2B5EF4-FFF2-40B4-BE49-F238E27FC236}">
                <a16:creationId xmlns:a16="http://schemas.microsoft.com/office/drawing/2014/main" id="{14BBABE0-1838-D0FA-F286-06F0F9FFE8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>
            <a:extLst>
              <a:ext uri="{FF2B5EF4-FFF2-40B4-BE49-F238E27FC236}">
                <a16:creationId xmlns:a16="http://schemas.microsoft.com/office/drawing/2014/main" id="{13768DAD-43C1-9B8F-2DE1-144D1CFBC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>
            <a:extLst>
              <a:ext uri="{FF2B5EF4-FFF2-40B4-BE49-F238E27FC236}">
                <a16:creationId xmlns:a16="http://schemas.microsoft.com/office/drawing/2014/main" id="{8639A01D-9B90-C243-5058-36840AA42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6" name="Symbol zastępczy stopki 5">
            <a:extLst>
              <a:ext uri="{FF2B5EF4-FFF2-40B4-BE49-F238E27FC236}">
                <a16:creationId xmlns:a16="http://schemas.microsoft.com/office/drawing/2014/main" id="{C28D01D8-B392-0AD4-8F69-BF5F04563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>
            <a:extLst>
              <a:ext uri="{FF2B5EF4-FFF2-40B4-BE49-F238E27FC236}">
                <a16:creationId xmlns:a16="http://schemas.microsoft.com/office/drawing/2014/main" id="{D76B81F9-B318-A420-02CC-504124C14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91540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4BC9B1-02CC-FAD6-5FE2-FD98EF64F5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46CB4616-BC8F-60A0-93A5-650AE74BC6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F7999826-8E19-14FB-8DDB-AD4A4D946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51A66E01-71FE-16CD-887D-736CA53DF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519E631-524A-6446-E6E3-E6A54D56F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7001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>
            <a:extLst>
              <a:ext uri="{FF2B5EF4-FFF2-40B4-BE49-F238E27FC236}">
                <a16:creationId xmlns:a16="http://schemas.microsoft.com/office/drawing/2014/main" id="{833C0C35-0815-9AFB-377E-0E65372711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>
            <a:extLst>
              <a:ext uri="{FF2B5EF4-FFF2-40B4-BE49-F238E27FC236}">
                <a16:creationId xmlns:a16="http://schemas.microsoft.com/office/drawing/2014/main" id="{C067CF7E-F024-84A1-BE1B-2E8F87BEC5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40948B82-0408-C8C9-BD24-AF639A690E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8F87ECB-90BF-B76F-6C91-968658201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14857AD-363A-86F4-7A5C-110BC414D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24164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>
            <a:extLst>
              <a:ext uri="{FF2B5EF4-FFF2-40B4-BE49-F238E27FC236}">
                <a16:creationId xmlns:a16="http://schemas.microsoft.com/office/drawing/2014/main" id="{9F9998BA-CC15-6AB1-B1D6-E7A294E0D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>
            <a:extLst>
              <a:ext uri="{FF2B5EF4-FFF2-40B4-BE49-F238E27FC236}">
                <a16:creationId xmlns:a16="http://schemas.microsoft.com/office/drawing/2014/main" id="{4D8C8D17-4047-3775-CE98-095838D07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0D4E109F-4D51-C37B-F1C4-2866A4CF23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A6999-A809-49BE-A6EC-7BA0A6E5EB84}" type="datetimeFigureOut">
              <a:rPr lang="pl-PL" smtClean="0"/>
              <a:t>19.06.2026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6C366416-386A-3C6D-E02F-315FFF4B2E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07B9963F-E248-07C1-A393-32283F0C4A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AA455-C8E3-4D0E-B0C8-999F1EE847D7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52868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56DA25-0D6B-27EE-7AD2-0CE2793C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214438"/>
            <a:ext cx="9144000" cy="2387600"/>
          </a:xfrm>
        </p:spPr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Architektura i modele hurtowni danych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8E0AD0C-60D7-E8CB-0D33-5EDCEED5E5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18423"/>
            <a:ext cx="9144000" cy="1655762"/>
          </a:xfrm>
        </p:spPr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Przemysław Starosta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90744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0FF3205-AFC8-751F-75C9-8A637C0F1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Hurtowania danych - definicja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7E90D5E-7C7D-FB64-22DD-1DFEC6BB4F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70000"/>
              </a:lnSpc>
            </a:pPr>
            <a:r>
              <a:rPr lang="pl-PL" dirty="0"/>
              <a:t>Hurtownia danych (ang. Data </a:t>
            </a:r>
            <a:r>
              <a:rPr lang="pl-PL" dirty="0" err="1"/>
              <a:t>Warehouse</a:t>
            </a:r>
            <a:r>
              <a:rPr lang="pl-PL" dirty="0"/>
              <a:t>) to wyspecjalizowany system informatyczny służący do przechowywania i analizowania dużych ilości danych pochodzących z wielu różnych źródeł wewnątrz organizacji. </a:t>
            </a:r>
          </a:p>
          <a:p>
            <a:pPr>
              <a:lnSpc>
                <a:spcPct val="170000"/>
              </a:lnSpc>
            </a:pPr>
            <a:endParaRPr lang="pl-PL" dirty="0"/>
          </a:p>
          <a:p>
            <a:pPr>
              <a:lnSpc>
                <a:spcPct val="170000"/>
              </a:lnSpc>
            </a:pPr>
            <a:r>
              <a:rPr lang="pl-PL" dirty="0"/>
              <a:t>W przeciwieństwie do zwykłych baz danych, które wspierają bieżące operacje (np. sprzedaż produktu, rejestrację klienta), hurtownia jest zaprojektowana z myślą o raportowaniu, analityce biznesowej (Business </a:t>
            </a:r>
            <a:r>
              <a:rPr lang="pl-PL" dirty="0" err="1"/>
              <a:t>Intelligence</a:t>
            </a:r>
            <a:r>
              <a:rPr lang="pl-PL" dirty="0"/>
              <a:t>) i wspieraniu procesów decyzyjnych.</a:t>
            </a:r>
            <a:endParaRPr lang="pl-PL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5676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D1EDEE-6FB3-8B0C-AD83-65106F622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537A11-937E-A624-D703-682CEBF83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Hurtowania danych - cechy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AAB121C-26E3-9BBF-AFEF-BEEE9C43C0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1800" b="1" dirty="0"/>
              <a:t>Integracja danych</a:t>
            </a:r>
            <a:r>
              <a:rPr lang="pl-PL" sz="1800" dirty="0"/>
              <a:t>: Gromadzi dane z różnych systemów (np. CRM, ERP, arkusze Excel, logi stron internetowych) i ujednolica je, aby można było analizować całą firmę w jednym miejscu.</a:t>
            </a:r>
          </a:p>
          <a:p>
            <a:pPr>
              <a:lnSpc>
                <a:spcPct val="150000"/>
              </a:lnSpc>
            </a:pPr>
            <a:endParaRPr lang="pl-PL" sz="1800" dirty="0"/>
          </a:p>
          <a:p>
            <a:pPr>
              <a:lnSpc>
                <a:spcPct val="150000"/>
              </a:lnSpc>
            </a:pPr>
            <a:r>
              <a:rPr lang="pl-PL" sz="1800" b="1" dirty="0"/>
              <a:t>Orientacja na temat</a:t>
            </a:r>
            <a:r>
              <a:rPr lang="pl-PL" sz="1800" dirty="0"/>
              <a:t>: Dane są zorganizowane wokół konkretnych obszarów biznesowych, takich jak sprzedaż, finanse czy marketing, a nie wokół konkretnych procesów technicznych.</a:t>
            </a:r>
            <a:endParaRPr lang="pl-PL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37085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0AD58C-2A42-4978-8434-F9144FEAD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5B4B7958-38B3-71E0-5D24-1873E9AD6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Hurtowania danych - cechy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B8DE451-9045-9DC4-458E-DEF747A8D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1800" b="1" dirty="0"/>
              <a:t>Trwałość i niezmienność</a:t>
            </a:r>
            <a:r>
              <a:rPr lang="pl-PL" sz="1800" dirty="0"/>
              <a:t>: Raz wprowadzone dane zazwyczaj nie są modyfikowane ani usuwane; służą jako historyczny zapis działań firmy, co pozwala na analizę trendów w czasie.</a:t>
            </a:r>
          </a:p>
          <a:p>
            <a:pPr>
              <a:lnSpc>
                <a:spcPct val="150000"/>
              </a:lnSpc>
            </a:pPr>
            <a:endParaRPr lang="pl-PL" sz="1800" dirty="0"/>
          </a:p>
          <a:p>
            <a:pPr>
              <a:lnSpc>
                <a:spcPct val="150000"/>
              </a:lnSpc>
            </a:pPr>
            <a:r>
              <a:rPr lang="pl-PL" sz="1800" b="1" dirty="0"/>
              <a:t>Wydajność analityczna</a:t>
            </a:r>
            <a:r>
              <a:rPr lang="pl-PL" sz="1800" dirty="0"/>
              <a:t>: Jest zoptymalizowana pod kątem wykonywania skomplikowanych zapytań, które mogą obejmować miliony rekordów jednocześnie, bez obciążania systemów operacyjnych, na których pracują pracownicy.</a:t>
            </a:r>
            <a:endParaRPr lang="pl-PL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10128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E0875A-9154-B4D2-D1F1-E52190DD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B92080B-ED02-A3FF-29D5-56B8DAEBD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OLTP vs OLAP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2300F02-0716-B957-C742-A321AD491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Główne różnice między OLTP (Online </a:t>
            </a:r>
            <a:r>
              <a:rPr lang="pl-PL" sz="1800" dirty="0" err="1"/>
              <a:t>Transaction</a:t>
            </a:r>
            <a:r>
              <a:rPr lang="pl-PL" sz="1800" dirty="0"/>
              <a:t> Processing) a OLAP (Online </a:t>
            </a:r>
            <a:r>
              <a:rPr lang="pl-PL" sz="1800" dirty="0" err="1"/>
              <a:t>Analytical</a:t>
            </a:r>
            <a:r>
              <a:rPr lang="pl-PL" sz="1800" dirty="0"/>
              <a:t> Processing) wynikają z ich przeznaczenia: pierwszy system służy do bieżącego działania firmy, a drugi do jej analizowania.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Przeznaczenie i cel</a:t>
            </a:r>
          </a:p>
          <a:p>
            <a:pPr lvl="1">
              <a:lnSpc>
                <a:spcPct val="150000"/>
              </a:lnSpc>
            </a:pPr>
            <a:r>
              <a:rPr lang="pl-PL" sz="1400" b="1" dirty="0"/>
              <a:t>OLTP</a:t>
            </a:r>
            <a:r>
              <a:rPr lang="pl-PL" sz="1400" dirty="0"/>
              <a:t> jest zaprojektowany do obsługi dużej liczby krótkich, szybkich transakcji wykonywanych w czasie rzeczywistym, takich jak zakupy w sklepie internetowym, wypłaty z bankomatu czy rezerwacje biletów. Jego głównym celem jest zapewnienie integralności danych i szybkości zapisu</a:t>
            </a:r>
          </a:p>
          <a:p>
            <a:pPr lvl="1">
              <a:lnSpc>
                <a:spcPct val="150000"/>
              </a:lnSpc>
            </a:pPr>
            <a:r>
              <a:rPr lang="pl-PL" sz="1400" b="1" dirty="0"/>
              <a:t>OLAP</a:t>
            </a:r>
            <a:r>
              <a:rPr lang="pl-PL" sz="1400" dirty="0"/>
              <a:t> natomiast służy do analizy historycznych danych i wspierania decyzji biznesowych, pozwalając na wykonywanie złożonych zapytań, które agregują dane z wielu miesięcy lub lat.</a:t>
            </a:r>
            <a:endParaRPr lang="pl-PL" sz="13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0306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D472C-CA0A-82A6-AD42-1B460D6A8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A435EE-3776-123C-F44B-977BA83E8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OLTP vs OLAP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60179DE-FF0C-105A-EDC1-029458F42D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Charakterystyka zapytań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W systemach OLTP zapytania są zazwyczaj proste i dotyczą konkretnych rekordów, na przykład: "pobierz dane klienta o ID 123" lub "zaktualizuj stan magazynowy produktu X”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W systemach OLAP zapytania są bardzo złożone i obejmują ogromne zbiory danych, na przykład: "jaka była średnia marża na produktach elektronicznych w regionie północnym w ostatnim kwartale w porównaniu do roku ubiegłego?".</a:t>
            </a:r>
          </a:p>
          <a:p>
            <a:pPr>
              <a:lnSpc>
                <a:spcPct val="150000"/>
              </a:lnSpc>
            </a:pPr>
            <a:r>
              <a:rPr lang="pl-PL" sz="1800" dirty="0"/>
              <a:t>Struktura i modelowanie danych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OLTP korzysta z baz znormalizowanych, co minimalizuje powtarzalność danych i przyspiesza operacje zapisu (INSERT, UPDATE, DELETE)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OLAP często wykorzystuje modele </a:t>
            </a:r>
            <a:r>
              <a:rPr lang="pl-PL" sz="1400" dirty="0" err="1"/>
              <a:t>zdenormalizowane</a:t>
            </a:r>
            <a:r>
              <a:rPr lang="pl-PL" sz="1400" dirty="0"/>
              <a:t>, takie jak schemat gwiazdy lub płatka śniegu, co przyspiesza odczyt danych (SELECT) kosztem większej zajętości miejsca na dysku.</a:t>
            </a:r>
            <a:endParaRPr lang="pl-PL" sz="13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25487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68AE8C-BC78-E506-5E35-656880B89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1E1E037-3983-4837-97CD-4843B8A9F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OLTP vs OLAP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B6B5F75-78D0-D339-F59F-57D5BA8139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1800" dirty="0"/>
              <a:t>Czas operacji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W OLTP kluczowa jest milisekundowa odpowiedź, ponieważ użytkownik czeka na potwierdzenie transakcji.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W OLAP zapytania mogą trwać od kilku sekund do nawet wielu minut, zależnie od stopnia skomplikowania analizy i objętości przetwarzanych danych.</a:t>
            </a:r>
          </a:p>
          <a:p>
            <a:pPr lvl="1">
              <a:lnSpc>
                <a:spcPct val="150000"/>
              </a:lnSpc>
            </a:pPr>
            <a:endParaRPr lang="pl-PL" sz="1400" dirty="0"/>
          </a:p>
          <a:p>
            <a:pPr>
              <a:lnSpc>
                <a:spcPct val="150000"/>
              </a:lnSpc>
            </a:pPr>
            <a:r>
              <a:rPr lang="pl-PL" sz="2400" dirty="0"/>
              <a:t>Przykłady zastosowań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Systemy OLTP to zazwyczaj bazy danych stojące za aplikacjami mobilnymi, systemami bankowymi czy sklepami e-commerce.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Systemy OLAP to hurtownie danych (Data </a:t>
            </a:r>
            <a:r>
              <a:rPr lang="pl-PL" sz="1400" dirty="0" err="1"/>
              <a:t>Warehouses</a:t>
            </a:r>
            <a:r>
              <a:rPr lang="pl-PL" sz="1400" dirty="0"/>
              <a:t>), które zasilają narzędzia Business </a:t>
            </a:r>
            <a:r>
              <a:rPr lang="pl-PL" sz="1400" dirty="0" err="1"/>
              <a:t>Intelligence</a:t>
            </a:r>
            <a:r>
              <a:rPr lang="pl-PL" sz="1400" dirty="0"/>
              <a:t> (BI) i </a:t>
            </a:r>
            <a:r>
              <a:rPr lang="pl-PL" sz="1400" dirty="0" err="1"/>
              <a:t>dashboardy</a:t>
            </a:r>
            <a:endParaRPr lang="pl-PL" sz="1400" dirty="0"/>
          </a:p>
          <a:p>
            <a:pPr lvl="1">
              <a:lnSpc>
                <a:spcPct val="150000"/>
              </a:lnSpc>
            </a:pPr>
            <a:endParaRPr lang="pl-PL" sz="13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599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C78B31-F215-D171-3DF2-B7FA82C49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E7166F7-2A1A-2A0A-AB6B-436D4C10C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CEL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BD100E2-3D1B-0255-027E-BEF646C1F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Dlaczego Twoja firma potrzebuje hurtowni?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Obecnie większość firm posiada dane rozproszone w wielu "silosach": systemie sprzedażowym, CRM-</a:t>
            </a:r>
            <a:r>
              <a:rPr lang="pl-PL" sz="1400" dirty="0" err="1"/>
              <a:t>ie</a:t>
            </a:r>
            <a:r>
              <a:rPr lang="pl-PL" sz="1400" dirty="0"/>
              <a:t>, arkuszach Excel i narzędziach marketingowych. Bez hurtowni danych próba uzyskania pełnego obrazu firmy przypomina układanie puzzli z kilku różnych pudełek.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Jedna wersja prawdy 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Hurtownia integruje dane z różnych źródeł, czyści je i ujednolica. Dzięki temu dział sprzedaży, marketingu i finansów operuje na tych samych, wiarygodnych liczbach.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Odciążenie systemów operacyjnych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Generowanie dużych raportów bezpośrednio w systemie produkcyjnym (np. w sklepie internetowym) może go spowolnić lub nawet zawiesić w godzinach pracy. Hurtownia danych działa niezależnie – analitycy mogą pracować z danymi przez całą dobę, nie wpływając na komfort pracy klientów czy pracowników.</a:t>
            </a:r>
          </a:p>
          <a:p>
            <a:pPr>
              <a:lnSpc>
                <a:spcPct val="150000"/>
              </a:lnSpc>
            </a:pPr>
            <a:endParaRPr lang="pl-PL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8213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4C8916-5294-C4A0-59DC-08E8C44CF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EB8542-FAA8-0F40-C59A-B8F5EE6B8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CEL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DBB97E65-FA3F-B52C-E9C0-8727F642B2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 fontScale="92500"/>
          </a:bodyPr>
          <a:lstStyle/>
          <a:p>
            <a:pPr>
              <a:lnSpc>
                <a:spcPct val="150000"/>
              </a:lnSpc>
            </a:pPr>
            <a:r>
              <a:rPr lang="pl-PL" sz="2600" dirty="0"/>
              <a:t>Analiza historyczna i trendy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Zwykłe bazy danych często przechowują tylko aktualny stan (np. obecny adres klienta). Hurtownia danych pamięta wszystko. Pozwala to na analizę trendów długoterminowych: jak zmieniały się preferencje klientów na przestrzeni 5 lat lub jak sezonowość wpływa na marżę w konkretnych regionach.</a:t>
            </a:r>
          </a:p>
          <a:p>
            <a:pPr>
              <a:lnSpc>
                <a:spcPct val="150000"/>
              </a:lnSpc>
            </a:pPr>
            <a:r>
              <a:rPr lang="pl-PL" dirty="0"/>
              <a:t>Szybsze i lepsze decyzje biznesowe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Zamiast czekać kilka dni, aż pracownik ręcznie sklei raport w Excelu, menedżerowie mają dostęp do interaktywnych </a:t>
            </a:r>
            <a:r>
              <a:rPr lang="pl-PL" sz="1400" dirty="0" err="1"/>
              <a:t>dashboardów</a:t>
            </a:r>
            <a:r>
              <a:rPr lang="pl-PL" sz="1400" dirty="0"/>
              <a:t> w czasie rzeczywistym. To pozwala reagować na problemy (np. nagły spadek sprzedaży) w godzinach, a nie w tygodniach.</a:t>
            </a:r>
            <a:endParaRPr lang="pl-PL" sz="1400" u="sng" dirty="0"/>
          </a:p>
          <a:p>
            <a:pPr>
              <a:lnSpc>
                <a:spcPct val="150000"/>
              </a:lnSpc>
            </a:pPr>
            <a:r>
              <a:rPr lang="pl-PL" sz="2400" dirty="0"/>
              <a:t>Fundament pod Sztuczną Inteligencję (AI)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Nie da się wdrożyć skutecznego AI ani uczenia maszynowego bez uporządkowanych danych. Hurtownia to "paliwo" dla nowoczesnych technologii. Jeśli myślisz o prognozowaniu popytu lub automatycznej segmentacji klientów, hurtownia jest niezbędnym pierwszym krokiem.</a:t>
            </a:r>
            <a:endParaRPr lang="pl-PL" sz="17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56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 descr="Obraz zawierający tekst, tablica suchościerna&#10;&#10;Opis wygenerowany automatycznie">
            <a:extLst>
              <a:ext uri="{FF2B5EF4-FFF2-40B4-BE49-F238E27FC236}">
                <a16:creationId xmlns:a16="http://schemas.microsoft.com/office/drawing/2014/main" id="{E339D218-1E4C-281D-8F41-82501DC8458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77" b="6308"/>
          <a:stretch/>
        </p:blipFill>
        <p:spPr>
          <a:xfrm>
            <a:off x="1" y="0"/>
            <a:ext cx="12191999" cy="4777274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EE742181-EC7A-F55C-DDC4-145836727000}"/>
              </a:ext>
            </a:extLst>
          </p:cNvPr>
          <p:cNvSpPr txBox="1"/>
          <p:nvPr/>
        </p:nvSpPr>
        <p:spPr>
          <a:xfrm>
            <a:off x="3487023" y="5180459"/>
            <a:ext cx="5217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Architektura hurtowni danych</a:t>
            </a:r>
          </a:p>
        </p:txBody>
      </p:sp>
    </p:spTree>
    <p:extLst>
      <p:ext uri="{BB962C8B-B14F-4D97-AF65-F5344CB8AC3E}">
        <p14:creationId xmlns:p14="http://schemas.microsoft.com/office/powerpoint/2010/main" val="19079990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D5CCF0-F758-EC87-F53B-802A8CF3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774C598-FF1B-FC1B-4B8B-3BE447286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Źródła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A74BAEE-7078-770D-9B1E-80F19609CA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60000"/>
              </a:lnSpc>
            </a:pPr>
            <a:r>
              <a:rPr lang="pl-PL" sz="1400" b="1" dirty="0"/>
              <a:t>Wewnętrzne systemy transakcyjne (OLTP)</a:t>
            </a:r>
          </a:p>
          <a:p>
            <a:pPr lvl="1">
              <a:lnSpc>
                <a:spcPct val="160000"/>
              </a:lnSpc>
            </a:pPr>
            <a:r>
              <a:rPr lang="pl-PL" sz="1200" dirty="0"/>
              <a:t>To najczęstsze źródło danych. Są to bazy danych obsługujące codzienne operacje firmy:</a:t>
            </a:r>
          </a:p>
          <a:p>
            <a:pPr>
              <a:lnSpc>
                <a:spcPct val="160000"/>
              </a:lnSpc>
            </a:pPr>
            <a:endParaRPr lang="pl-PL" sz="1400" b="1" dirty="0"/>
          </a:p>
          <a:p>
            <a:pPr>
              <a:lnSpc>
                <a:spcPct val="160000"/>
              </a:lnSpc>
            </a:pPr>
            <a:r>
              <a:rPr lang="pl-PL" sz="1400" b="1" dirty="0"/>
              <a:t>Systemy ERP (Enterprise Resource Planning):</a:t>
            </a:r>
            <a:r>
              <a:rPr lang="pl-PL" sz="1400" dirty="0"/>
              <a:t> </a:t>
            </a:r>
          </a:p>
          <a:p>
            <a:pPr lvl="1">
              <a:lnSpc>
                <a:spcPct val="160000"/>
              </a:lnSpc>
            </a:pPr>
            <a:r>
              <a:rPr lang="pl-PL" sz="1200" dirty="0"/>
              <a:t>Dane o finansach, księgowości, kadrach, płacach i logistyce.</a:t>
            </a:r>
          </a:p>
          <a:p>
            <a:pPr>
              <a:lnSpc>
                <a:spcPct val="160000"/>
              </a:lnSpc>
            </a:pPr>
            <a:endParaRPr lang="pl-PL" sz="1400" b="1" dirty="0"/>
          </a:p>
          <a:p>
            <a:pPr>
              <a:lnSpc>
                <a:spcPct val="160000"/>
              </a:lnSpc>
            </a:pPr>
            <a:r>
              <a:rPr lang="pl-PL" sz="1400" b="1" dirty="0"/>
              <a:t>Systemy CRM (Customer </a:t>
            </a:r>
            <a:r>
              <a:rPr lang="pl-PL" sz="1400" b="1" dirty="0" err="1"/>
              <a:t>Relationship</a:t>
            </a:r>
            <a:r>
              <a:rPr lang="pl-PL" sz="1400" b="1" dirty="0"/>
              <a:t> Management):</a:t>
            </a:r>
            <a:r>
              <a:rPr lang="pl-PL" sz="1400" dirty="0"/>
              <a:t> </a:t>
            </a:r>
          </a:p>
          <a:p>
            <a:pPr lvl="1">
              <a:lnSpc>
                <a:spcPct val="160000"/>
              </a:lnSpc>
            </a:pPr>
            <a:r>
              <a:rPr lang="pl-PL" sz="1200" dirty="0"/>
              <a:t>Historia kontaktów z klientami, lejki sprzedażowe, dane demograficzne klientów.</a:t>
            </a:r>
          </a:p>
          <a:p>
            <a:pPr>
              <a:lnSpc>
                <a:spcPct val="160000"/>
              </a:lnSpc>
            </a:pPr>
            <a:endParaRPr lang="pl-PL" sz="1400" b="1" dirty="0"/>
          </a:p>
          <a:p>
            <a:pPr>
              <a:lnSpc>
                <a:spcPct val="160000"/>
              </a:lnSpc>
            </a:pPr>
            <a:r>
              <a:rPr lang="pl-PL" sz="1400" b="1" dirty="0"/>
              <a:t>Systemy sprzedażowe i POS:</a:t>
            </a:r>
            <a:r>
              <a:rPr lang="pl-PL" sz="1400" dirty="0"/>
              <a:t> </a:t>
            </a:r>
          </a:p>
          <a:p>
            <a:pPr lvl="1">
              <a:lnSpc>
                <a:spcPct val="160000"/>
              </a:lnSpc>
            </a:pPr>
            <a:r>
              <a:rPr lang="pl-PL" sz="1200" dirty="0"/>
              <a:t>Dane z kas fiskalnych, platform e-commerce (np. </a:t>
            </a:r>
            <a:r>
              <a:rPr lang="pl-PL" sz="1200" dirty="0" err="1"/>
              <a:t>Shopify</a:t>
            </a:r>
            <a:r>
              <a:rPr lang="pl-PL" sz="1200" dirty="0"/>
              <a:t>, Magento) i systemów zamówień.</a:t>
            </a:r>
            <a:endParaRPr lang="pl-PL" sz="12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8504063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A6555D-9770-1A2A-2B40-EB235EADD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E0B6ED1-221A-D606-5D41-3B95C5E3A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Źródła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1303A8A-4506-2155-469B-80DDA4318E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l-PL" sz="1800" b="1" dirty="0"/>
              <a:t>Dane z systemów zewnętrznych i SaaS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Wiele firm korzysta z narzędzi w chmurze, z których dane muszą zostać zaimportowane do hurtowni:</a:t>
            </a:r>
          </a:p>
          <a:p>
            <a:pPr>
              <a:lnSpc>
                <a:spcPct val="150000"/>
              </a:lnSpc>
            </a:pPr>
            <a:endParaRPr lang="pl-PL" sz="1800" b="1" dirty="0"/>
          </a:p>
          <a:p>
            <a:pPr>
              <a:lnSpc>
                <a:spcPct val="150000"/>
              </a:lnSpc>
            </a:pPr>
            <a:r>
              <a:rPr lang="pl-PL" sz="1800" b="1" dirty="0"/>
              <a:t>Platformy marketingowe: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Dane z Google </a:t>
            </a:r>
            <a:r>
              <a:rPr lang="pl-PL" sz="1400" dirty="0" err="1"/>
              <a:t>Ads</a:t>
            </a:r>
            <a:r>
              <a:rPr lang="pl-PL" sz="1400" dirty="0"/>
              <a:t>, Facebook </a:t>
            </a:r>
            <a:r>
              <a:rPr lang="pl-PL" sz="1400" dirty="0" err="1"/>
              <a:t>Ads</a:t>
            </a:r>
            <a:r>
              <a:rPr lang="pl-PL" sz="1400" dirty="0"/>
              <a:t>, LinkedIn </a:t>
            </a:r>
            <a:r>
              <a:rPr lang="pl-PL" sz="1400" dirty="0" err="1"/>
              <a:t>Ads</a:t>
            </a:r>
            <a:r>
              <a:rPr lang="pl-PL" sz="1400" dirty="0"/>
              <a:t> (koszty kampanii, </a:t>
            </a:r>
            <a:r>
              <a:rPr lang="pl-PL" sz="1400" dirty="0" err="1"/>
              <a:t>klikalność</a:t>
            </a:r>
            <a:r>
              <a:rPr lang="pl-PL" sz="1400" dirty="0"/>
              <a:t>).</a:t>
            </a:r>
          </a:p>
          <a:p>
            <a:pPr>
              <a:lnSpc>
                <a:spcPct val="150000"/>
              </a:lnSpc>
            </a:pPr>
            <a:endParaRPr lang="pl-PL" sz="1800" b="1" dirty="0"/>
          </a:p>
          <a:p>
            <a:pPr>
              <a:lnSpc>
                <a:spcPct val="150000"/>
              </a:lnSpc>
            </a:pPr>
            <a:r>
              <a:rPr lang="pl-PL" sz="1800" b="1" dirty="0"/>
              <a:t>Analityka internetowa: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Dane z Google Analytics czy </a:t>
            </a:r>
            <a:r>
              <a:rPr lang="pl-PL" sz="1400" dirty="0" err="1"/>
              <a:t>Hotjar</a:t>
            </a:r>
            <a:r>
              <a:rPr lang="pl-PL" sz="1400" dirty="0"/>
              <a:t> dotyczące zachowań użytkowników na stronie.</a:t>
            </a:r>
          </a:p>
          <a:p>
            <a:pPr lvl="1">
              <a:lnSpc>
                <a:spcPct val="150000"/>
              </a:lnSpc>
            </a:pPr>
            <a:endParaRPr lang="pl-PL" sz="1400" dirty="0"/>
          </a:p>
          <a:p>
            <a:pPr>
              <a:lnSpc>
                <a:spcPct val="150000"/>
              </a:lnSpc>
            </a:pPr>
            <a:r>
              <a:rPr lang="pl-PL" sz="1800" b="1" dirty="0"/>
              <a:t>Media społecznościowe: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400" dirty="0"/>
              <a:t>Informacje o wzmiankach, zasięgach i sentymencie marki.</a:t>
            </a:r>
            <a:endParaRPr lang="pl-PL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82926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CF88CD-25A3-F01A-1D6D-6ABE62735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2AEAD00-F437-EA34-814E-A61B8DC9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Źródła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AB5C64C-EC4C-B4A0-39D4-0B7A21456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1800" b="1" dirty="0"/>
              <a:t>Pliki płaskie i arkusze kalkulacyjne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Mimo cyfryzacji, wiele kluczowych danych wciąż żyje poza systemami:</a:t>
            </a:r>
          </a:p>
          <a:p>
            <a:pPr>
              <a:lnSpc>
                <a:spcPct val="150000"/>
              </a:lnSpc>
            </a:pPr>
            <a:endParaRPr lang="pl-PL" sz="1800" b="1" dirty="0"/>
          </a:p>
          <a:p>
            <a:pPr>
              <a:lnSpc>
                <a:spcPct val="150000"/>
              </a:lnSpc>
            </a:pPr>
            <a:r>
              <a:rPr lang="pl-PL" sz="1800" b="1" dirty="0"/>
              <a:t>Arkusze Excel i Google </a:t>
            </a:r>
            <a:r>
              <a:rPr lang="pl-PL" sz="1800" b="1" dirty="0" err="1"/>
              <a:t>Sheets</a:t>
            </a:r>
            <a:r>
              <a:rPr lang="pl-PL" sz="1800" b="1" dirty="0"/>
              <a:t>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Często zawierają budżety, cele sprzedażowe lub ręcznie prowadzone zestawienia.</a:t>
            </a:r>
          </a:p>
          <a:p>
            <a:pPr lvl="1">
              <a:lnSpc>
                <a:spcPct val="150000"/>
              </a:lnSpc>
            </a:pPr>
            <a:endParaRPr lang="pl-PL" sz="1600" dirty="0"/>
          </a:p>
          <a:p>
            <a:pPr>
              <a:lnSpc>
                <a:spcPct val="150000"/>
              </a:lnSpc>
            </a:pPr>
            <a:r>
              <a:rPr lang="pl-PL" sz="1800" b="1" dirty="0"/>
              <a:t>Pliki CSV, XML, JSON: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Formaty wymiany danych używane przez starsze systemy lub zewnętrzne raporty.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085742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150CD9-7FC3-7507-F516-B38369B43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7D6EBA1-70E0-0642-E361-7D5B6465C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Źródła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B12070F-995E-8992-DBB8-7EA661AADB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1800" b="1" dirty="0"/>
              <a:t>Dane z urządzeń i logi systemowe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W dobie cyfryzacji coraz ważniejsze stają się dane generowane automatycznie:</a:t>
            </a:r>
          </a:p>
          <a:p>
            <a:pPr>
              <a:lnSpc>
                <a:spcPct val="150000"/>
              </a:lnSpc>
            </a:pPr>
            <a:endParaRPr lang="pl-PL" sz="1800" b="1" dirty="0"/>
          </a:p>
          <a:p>
            <a:pPr>
              <a:lnSpc>
                <a:spcPct val="150000"/>
              </a:lnSpc>
            </a:pPr>
            <a:r>
              <a:rPr lang="pl-PL" sz="1800" b="1" dirty="0" err="1"/>
              <a:t>IoT</a:t>
            </a:r>
            <a:r>
              <a:rPr lang="pl-PL" sz="1800" b="1" dirty="0"/>
              <a:t> (Internet of </a:t>
            </a:r>
            <a:r>
              <a:rPr lang="pl-PL" sz="1800" b="1" dirty="0" err="1"/>
              <a:t>Things</a:t>
            </a:r>
            <a:r>
              <a:rPr lang="pl-PL" sz="1800" b="1" dirty="0"/>
              <a:t>):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Dane z czujników w fabrykach, nadajników GPS w logistyce czy inteligentnych liczników.</a:t>
            </a:r>
          </a:p>
          <a:p>
            <a:pPr lvl="1">
              <a:lnSpc>
                <a:spcPct val="150000"/>
              </a:lnSpc>
            </a:pPr>
            <a:endParaRPr lang="pl-PL" sz="1600" dirty="0"/>
          </a:p>
          <a:p>
            <a:pPr>
              <a:lnSpc>
                <a:spcPct val="150000"/>
              </a:lnSpc>
            </a:pPr>
            <a:r>
              <a:rPr lang="pl-PL" sz="1800" b="1" dirty="0"/>
              <a:t>Logi serwerowe: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Informacje o błędach, ruchu na serwerach i wydajności aplikacji.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68284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8AFA6-47D7-118F-0BD0-E9855C86F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D837F29-5807-1EBF-D709-A7D200119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Źródła danych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75F2307-7585-F707-1B1C-CADA35C11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l-PL" sz="1800" b="1" dirty="0"/>
              <a:t>Źródła zewnętrzne (Publiczne i komercyjne)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Hurtownia może być wzbogacona o dane spoza firmy, aby lepiej rozumieć kontekst rynkowy:</a:t>
            </a:r>
          </a:p>
          <a:p>
            <a:pPr>
              <a:lnSpc>
                <a:spcPct val="150000"/>
              </a:lnSpc>
            </a:pPr>
            <a:endParaRPr lang="pl-PL" sz="1800" b="1" dirty="0"/>
          </a:p>
          <a:p>
            <a:pPr>
              <a:lnSpc>
                <a:spcPct val="150000"/>
              </a:lnSpc>
            </a:pPr>
            <a:r>
              <a:rPr lang="pl-PL" sz="1800" b="1" dirty="0"/>
              <a:t>Dane pogodowe: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Kluczowe dla handlu detalicznego i rolnictwa.</a:t>
            </a:r>
          </a:p>
          <a:p>
            <a:pPr lvl="1">
              <a:lnSpc>
                <a:spcPct val="150000"/>
              </a:lnSpc>
            </a:pPr>
            <a:endParaRPr lang="pl-PL" sz="1600" dirty="0"/>
          </a:p>
          <a:p>
            <a:pPr>
              <a:lnSpc>
                <a:spcPct val="150000"/>
              </a:lnSpc>
            </a:pPr>
            <a:r>
              <a:rPr lang="pl-PL" sz="1800" b="1" dirty="0"/>
              <a:t>Dane giełdowe i kursy walut: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Niezbędne dla finansów.</a:t>
            </a:r>
          </a:p>
          <a:p>
            <a:pPr>
              <a:lnSpc>
                <a:spcPct val="150000"/>
              </a:lnSpc>
            </a:pPr>
            <a:endParaRPr lang="pl-PL" sz="1800" b="1" dirty="0"/>
          </a:p>
          <a:p>
            <a:pPr>
              <a:lnSpc>
                <a:spcPct val="150000"/>
              </a:lnSpc>
            </a:pPr>
            <a:r>
              <a:rPr lang="pl-PL" sz="1800" b="1" dirty="0"/>
              <a:t>Dane demograficzne i statystyczne:</a:t>
            </a:r>
            <a:r>
              <a:rPr lang="pl-PL" sz="18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Np. z GUS lub innych instytucji badawczych.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540183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0C150B-000A-10F1-BB0C-5FB16BE8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48770D-D0F6-20E1-9F8A-D6434CC58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Jak dane trafiają do hurtowni?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90D6B9A-EC85-E77C-2346-BB9DAF0E7E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Proces ten nazywa się zazwyczaj </a:t>
            </a:r>
            <a:r>
              <a:rPr lang="pl-PL" sz="2400" b="1" dirty="0"/>
              <a:t>ETL</a:t>
            </a:r>
            <a:r>
              <a:rPr lang="pl-PL" sz="2400" dirty="0"/>
              <a:t> (</a:t>
            </a:r>
            <a:r>
              <a:rPr lang="pl-PL" sz="2400" dirty="0" err="1"/>
              <a:t>Extract</a:t>
            </a:r>
            <a:r>
              <a:rPr lang="pl-PL" sz="2400" dirty="0"/>
              <a:t>, </a:t>
            </a:r>
            <a:r>
              <a:rPr lang="pl-PL" sz="2400" dirty="0" err="1"/>
              <a:t>Transform</a:t>
            </a:r>
            <a:r>
              <a:rPr lang="pl-PL" sz="2400" dirty="0"/>
              <a:t>, </a:t>
            </a:r>
            <a:r>
              <a:rPr lang="pl-PL" sz="2400" dirty="0" err="1"/>
              <a:t>Load</a:t>
            </a:r>
            <a:r>
              <a:rPr lang="pl-PL" sz="2400" dirty="0"/>
              <a:t>) lub </a:t>
            </a:r>
            <a:r>
              <a:rPr lang="pl-PL" sz="2400" b="1" dirty="0"/>
              <a:t>ELT</a:t>
            </a:r>
            <a:r>
              <a:rPr lang="pl-PL" sz="2400" dirty="0"/>
              <a:t>. </a:t>
            </a:r>
          </a:p>
          <a:p>
            <a:pPr>
              <a:lnSpc>
                <a:spcPct val="150000"/>
              </a:lnSpc>
            </a:pPr>
            <a:endParaRPr lang="pl-PL" sz="2400" dirty="0"/>
          </a:p>
          <a:p>
            <a:pPr>
              <a:lnSpc>
                <a:spcPct val="150000"/>
              </a:lnSpc>
            </a:pPr>
            <a:r>
              <a:rPr lang="pl-PL" sz="2400" dirty="0"/>
              <a:t>Dane są: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pobierane ze źródła,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czyszczone (np. ujednolicenie formatu daty),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transformowane (np. przeliczenie walut),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ładowane do hurtowni.</a:t>
            </a:r>
          </a:p>
        </p:txBody>
      </p:sp>
    </p:spTree>
    <p:extLst>
      <p:ext uri="{BB962C8B-B14F-4D97-AF65-F5344CB8AC3E}">
        <p14:creationId xmlns:p14="http://schemas.microsoft.com/office/powerpoint/2010/main" val="36088010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CB2972-BBCA-9629-189F-3A82CF384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A803F3C-02AC-BB38-47E6-ADA04678E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Core Data Warehouse (Core DW)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CF6B361-C005-E078-9E76-C1CC4CE46B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nazywana często sercem lub jądrem hurtowni, 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to centralny obszar, w którym przechowywane są dane w sposób trwały, zintegrowany i oczyszczony. 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tutaj następuje zamiana surowych informacji w uporządkowaną wiedzę.</a:t>
            </a:r>
            <a:endParaRPr lang="pl-PL" sz="2000" dirty="0"/>
          </a:p>
        </p:txBody>
      </p:sp>
    </p:spTree>
    <p:extLst>
      <p:ext uri="{BB962C8B-B14F-4D97-AF65-F5344CB8AC3E}">
        <p14:creationId xmlns:p14="http://schemas.microsoft.com/office/powerpoint/2010/main" val="1045066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4E7AD8-E471-B1D3-EEC9-E5A8A10C2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F372CA0-D882-5309-9E81-FEF121AFF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Core Data Warehouse (Core DW)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C0BEE8B-6CF9-3BE5-817A-F5FCFD82E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Modelowanie danych - </a:t>
            </a:r>
            <a:r>
              <a:rPr lang="pl-PL" sz="2000" dirty="0"/>
              <a:t> warstwie </a:t>
            </a:r>
            <a:r>
              <a:rPr lang="pl-PL" sz="2000" dirty="0" err="1"/>
              <a:t>Core</a:t>
            </a:r>
            <a:r>
              <a:rPr lang="pl-PL" sz="2000" dirty="0"/>
              <a:t> najczęściej stosuje się jedno z dwóch podejść: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Modelowanie relacyjne (3NF - Trzecia Postać Normalna):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Dane są bardzo rozdrobnione, co minimalizuje redundancję (powtarzalność) i zapewnia ogromną elastyczność, ale jest trudniejsze do bezpośredniego raportowania.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Data </a:t>
            </a:r>
            <a:r>
              <a:rPr lang="pl-PL" sz="2000" b="1" dirty="0" err="1"/>
              <a:t>Vault</a:t>
            </a:r>
            <a:r>
              <a:rPr lang="pl-PL" sz="2000" b="1" dirty="0"/>
              <a:t>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Nowoczesne podejście, które świetnie radzi sobie ze zmianami w strukturach systemów źródłowych.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Składa się z </a:t>
            </a:r>
            <a:r>
              <a:rPr lang="pl-PL" sz="1600" dirty="0" err="1"/>
              <a:t>Hubów</a:t>
            </a:r>
            <a:r>
              <a:rPr lang="pl-PL" sz="1600" dirty="0"/>
              <a:t> (klucze biznesowe), Linków (relacje) i Satelitów (atrybuty opisowe).</a:t>
            </a:r>
            <a:endParaRPr lang="pl-PL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394047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F983D3-4F2C-50E8-75C2-6F4718A99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2246E20-4A15-3AAF-9D15-240EB1F51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Core Data Warehouse (Core DW)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0704D11-16BA-57CC-6B9F-2809EB2D4C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Kluczowe cechy </a:t>
            </a:r>
            <a:r>
              <a:rPr lang="pl-PL" sz="2400" b="1" dirty="0" err="1"/>
              <a:t>Core</a:t>
            </a:r>
            <a:r>
              <a:rPr lang="pl-PL" sz="2400" b="1" dirty="0"/>
              <a:t> DW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Dane atomowe:</a:t>
            </a:r>
            <a:r>
              <a:rPr lang="pl-PL" sz="2000" dirty="0"/>
              <a:t> W tej warstwie przechowuje się dane na najniższym możliwym poziomie szczegółowości (np. każda pojedyncza transakcja, a nie tylko suma dzienna). Dzięki temu w przyszłości można odpowiedzieć na dowolne pytanie analityczne.</a:t>
            </a:r>
          </a:p>
          <a:p>
            <a:pPr lvl="1">
              <a:lnSpc>
                <a:spcPct val="150000"/>
              </a:lnSpc>
            </a:pPr>
            <a:endParaRPr lang="pl-PL" sz="2000" dirty="0"/>
          </a:p>
          <a:p>
            <a:pPr lvl="1">
              <a:lnSpc>
                <a:spcPct val="150000"/>
              </a:lnSpc>
            </a:pPr>
            <a:r>
              <a:rPr lang="pl-PL" sz="2000" b="1" dirty="0"/>
              <a:t>Niezależność od technologii źródłowej:</a:t>
            </a:r>
            <a:r>
              <a:rPr lang="pl-PL" sz="2000" dirty="0"/>
              <a:t> Dane są zapisane w formacie neutralnym dla systemów, z których pochodzą.</a:t>
            </a:r>
          </a:p>
          <a:p>
            <a:pPr lvl="1">
              <a:lnSpc>
                <a:spcPct val="150000"/>
              </a:lnSpc>
            </a:pPr>
            <a:endParaRPr lang="pl-PL" sz="2000" dirty="0"/>
          </a:p>
          <a:p>
            <a:pPr lvl="1">
              <a:lnSpc>
                <a:spcPct val="150000"/>
              </a:lnSpc>
            </a:pPr>
            <a:r>
              <a:rPr lang="pl-PL" sz="2000" b="1" dirty="0"/>
              <a:t>Oczyszczanie danych:</a:t>
            </a:r>
            <a:r>
              <a:rPr lang="pl-PL" sz="2000" dirty="0"/>
              <a:t> To tutaj lądują dane po przejściu procesów jakościowych – bez duplikatów, z poprawionymi błędami i ujednoliconymi jednostkami (np. wszystkie kwoty przeliczone na jedną walutę).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735635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590F4D-E5C5-AD92-A9B8-2D273F66DA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D9C1A8A-0129-8F94-F730-85D1B8D36C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Core Data Warehouse (Core DW)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F9DD2AC-CF58-0AD7-8D56-30930AFD9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Zarządzanie czasem (SCD - </a:t>
            </a:r>
            <a:r>
              <a:rPr lang="pl-PL" sz="2400" b="1" dirty="0" err="1"/>
              <a:t>Slowly</a:t>
            </a:r>
            <a:r>
              <a:rPr lang="pl-PL" sz="2400" b="1" dirty="0"/>
              <a:t> </a:t>
            </a:r>
            <a:r>
              <a:rPr lang="pl-PL" sz="2400" b="1" dirty="0" err="1"/>
              <a:t>Changing</a:t>
            </a:r>
            <a:r>
              <a:rPr lang="pl-PL" sz="2400" b="1" dirty="0"/>
              <a:t> </a:t>
            </a:r>
            <a:r>
              <a:rPr lang="pl-PL" sz="2400" b="1" dirty="0" err="1"/>
              <a:t>Dimensions</a:t>
            </a:r>
            <a:r>
              <a:rPr lang="pl-PL" sz="2400" b="1" dirty="0"/>
              <a:t>)</a:t>
            </a:r>
          </a:p>
          <a:p>
            <a:pPr lvl="1">
              <a:lnSpc>
                <a:spcPct val="150000"/>
              </a:lnSpc>
            </a:pPr>
            <a:r>
              <a:rPr lang="pl-PL" sz="2000" dirty="0" err="1"/>
              <a:t>Core</a:t>
            </a:r>
            <a:r>
              <a:rPr lang="pl-PL" sz="2000" dirty="0"/>
              <a:t> DW musi radzić sobie ze zmianami w czasie.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Jeśli klient zmieni nazwisko lub firma zmieni adres, hurtownia nie powinna po prostu nadpisać starej informacji.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Stosuje się mechanizmy </a:t>
            </a:r>
            <a:r>
              <a:rPr lang="pl-PL" sz="2000" b="1" dirty="0"/>
              <a:t>SCD</a:t>
            </a:r>
            <a:r>
              <a:rPr lang="pl-PL" sz="2000" dirty="0"/>
              <a:t>, które pozwalają zachować historię (np. wiemy, gdzie klient mieszkał w 2023 roku, a gdzie mieszka teraz), co jest kluczowe dla raportowania historycznego.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541389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30AC59-92B9-A048-B7C7-A056C37692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3D44541-0D21-246C-A390-FE4F464E3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Core Data Warehouse (Core DW)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E79E852-C9D6-9F3A-3482-44D45DCA06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Miejsce w architekturze - </a:t>
            </a:r>
            <a:r>
              <a:rPr lang="pl-PL" sz="2400" b="1" dirty="0" err="1"/>
              <a:t>c</a:t>
            </a:r>
            <a:r>
              <a:rPr lang="pl-PL" sz="2000" dirty="0" err="1"/>
              <a:t>ore</a:t>
            </a:r>
            <a:r>
              <a:rPr lang="pl-PL" sz="2000" dirty="0"/>
              <a:t> DW znajduje się "pomiędzy":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Z tyłu:</a:t>
            </a:r>
            <a:r>
              <a:rPr lang="pl-PL" sz="2000" dirty="0"/>
              <a:t> Pobiera dane z warstwy </a:t>
            </a:r>
            <a:r>
              <a:rPr lang="pl-PL" sz="2000" dirty="0" err="1"/>
              <a:t>Staging</a:t>
            </a:r>
            <a:r>
              <a:rPr lang="pl-PL" sz="2000" dirty="0"/>
              <a:t> (poczekalni).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Z przodu:</a:t>
            </a:r>
            <a:r>
              <a:rPr lang="pl-PL" sz="2000" dirty="0"/>
              <a:t> Zasila warstwy tematyczne, tzw. </a:t>
            </a:r>
            <a:r>
              <a:rPr lang="pl-PL" sz="2000" b="1" dirty="0"/>
              <a:t>Data </a:t>
            </a:r>
            <a:r>
              <a:rPr lang="pl-PL" sz="2000" b="1" dirty="0" err="1"/>
              <a:t>Marts</a:t>
            </a:r>
            <a:r>
              <a:rPr lang="pl-PL" sz="2000" dirty="0"/>
              <a:t> (rynki danych), które są zoptymalizowane pod konkretne działy (np. marketing, finanse) i narzędzia BI (Power BI, Tableau).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17187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C1FD1-73D0-F413-CA78-1FC10C674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C85DF8F-28F9-A34F-4BD2-0DD1FEE4C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en-US" sz="3600" dirty="0"/>
              <a:t>Core Data Warehouse (Core DW)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5C9327E-8F6F-A1E4-611F-74C86C5199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Bez solidnej warstwy </a:t>
            </a:r>
            <a:r>
              <a:rPr lang="pl-PL" sz="2400" dirty="0" err="1"/>
              <a:t>Core</a:t>
            </a:r>
            <a:r>
              <a:rPr lang="pl-PL" sz="2400" dirty="0"/>
              <a:t>, hurtownia danych staje się tylko zbiorem niespójnych raportów. </a:t>
            </a:r>
          </a:p>
          <a:p>
            <a:pPr>
              <a:lnSpc>
                <a:spcPct val="150000"/>
              </a:lnSpc>
            </a:pPr>
            <a:endParaRPr lang="pl-PL" sz="2400" dirty="0"/>
          </a:p>
          <a:p>
            <a:pPr>
              <a:lnSpc>
                <a:spcPct val="150000"/>
              </a:lnSpc>
            </a:pPr>
            <a:r>
              <a:rPr lang="pl-PL" sz="2400" dirty="0" err="1"/>
              <a:t>Core</a:t>
            </a:r>
            <a:r>
              <a:rPr lang="pl-PL" sz="2400" dirty="0"/>
              <a:t> DW gwarantuje, że niezależnie od tego, jak zmienią się Twoje systemy źródłowe w przyszłości, fundament Twojej analityki pozostanie stabilny i wiarygodny.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1468835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258C8-25AA-395C-9205-341364D5BA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0E86CDC-749C-5A90-2B7C-D35E4A37B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Warstwa prezentacji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4D3DB9E-9807-043D-2986-9BDEA68BDD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Warstwa prezentacji (często nazywana </a:t>
            </a:r>
            <a:r>
              <a:rPr lang="pl-PL" sz="2400" b="1" dirty="0"/>
              <a:t>Access </a:t>
            </a:r>
            <a:r>
              <a:rPr lang="pl-PL" sz="2400" b="1" dirty="0" err="1"/>
              <a:t>Layer</a:t>
            </a:r>
            <a:r>
              <a:rPr lang="pl-PL" sz="2400" dirty="0"/>
              <a:t> lub </a:t>
            </a:r>
            <a:r>
              <a:rPr lang="pl-PL" sz="2400" b="1" dirty="0"/>
              <a:t>Reporting </a:t>
            </a:r>
            <a:r>
              <a:rPr lang="pl-PL" sz="2400" b="1" dirty="0" err="1"/>
              <a:t>Layer</a:t>
            </a:r>
            <a:r>
              <a:rPr lang="pl-PL" sz="2400" dirty="0"/>
              <a:t>) to ostatni etap podróży danych w hurtowni. </a:t>
            </a:r>
          </a:p>
          <a:p>
            <a:pPr>
              <a:lnSpc>
                <a:spcPct val="150000"/>
              </a:lnSpc>
            </a:pPr>
            <a:endParaRPr lang="pl-PL" sz="2400" dirty="0"/>
          </a:p>
          <a:p>
            <a:pPr>
              <a:lnSpc>
                <a:spcPct val="150000"/>
              </a:lnSpc>
            </a:pPr>
            <a:r>
              <a:rPr lang="pl-PL" sz="2400" dirty="0"/>
              <a:t>Jest to jedyna część systemu, z którą bezpośredni kontakt mają użytkownicy biznesowi, menedżerowie i analitycy. </a:t>
            </a:r>
          </a:p>
          <a:p>
            <a:pPr>
              <a:lnSpc>
                <a:spcPct val="150000"/>
              </a:lnSpc>
            </a:pPr>
            <a:endParaRPr lang="pl-PL" sz="2400" dirty="0"/>
          </a:p>
          <a:p>
            <a:pPr>
              <a:lnSpc>
                <a:spcPct val="150000"/>
              </a:lnSpc>
            </a:pPr>
            <a:r>
              <a:rPr lang="pl-PL" sz="2400" dirty="0"/>
              <a:t>Jej głównym celem jest dostarczenie danych w formie zrozumiałej, szybkiej i dopasowanej do konkretnych potrzeb biznesowych.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478964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BFEDCE-0C3D-A698-31C6-1BC51B85F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1E83532C-6C64-811F-2473-299420946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Warstwa prezentacji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24BF56F-5C50-6B72-4503-142F01795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Data </a:t>
            </a:r>
            <a:r>
              <a:rPr lang="pl-PL" sz="2400" b="1" dirty="0" err="1"/>
              <a:t>Marts</a:t>
            </a:r>
            <a:r>
              <a:rPr lang="pl-PL" sz="2400" b="1" dirty="0"/>
              <a:t> (Rynki Danych)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Zamiast zmuszać użytkowników do przeszukiwania całej, ogromnej hurtowni (</a:t>
            </a:r>
            <a:r>
              <a:rPr lang="pl-PL" sz="2000" dirty="0" err="1"/>
              <a:t>Core</a:t>
            </a:r>
            <a:r>
              <a:rPr lang="pl-PL" sz="2000" dirty="0"/>
              <a:t> DW), tworzy się mniejsze, tematyczne podzbiory danych zwane Data Martami.</a:t>
            </a:r>
          </a:p>
          <a:p>
            <a:pPr lvl="1">
              <a:lnSpc>
                <a:spcPct val="150000"/>
              </a:lnSpc>
            </a:pPr>
            <a:endParaRPr lang="pl-PL" sz="2000" dirty="0"/>
          </a:p>
          <a:p>
            <a:pPr>
              <a:lnSpc>
                <a:spcPct val="150000"/>
              </a:lnSpc>
            </a:pPr>
            <a:r>
              <a:rPr lang="pl-PL" sz="2400" b="1" dirty="0"/>
              <a:t>Data Mart Sprzedaż:</a:t>
            </a:r>
            <a:r>
              <a:rPr lang="pl-PL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Zawiera tylko to, co interesuje dyrektora handlowego.</a:t>
            </a:r>
          </a:p>
          <a:p>
            <a:pPr lvl="1">
              <a:lnSpc>
                <a:spcPct val="150000"/>
              </a:lnSpc>
            </a:pPr>
            <a:endParaRPr lang="pl-PL" sz="2000" dirty="0"/>
          </a:p>
          <a:p>
            <a:pPr>
              <a:lnSpc>
                <a:spcPct val="150000"/>
              </a:lnSpc>
            </a:pPr>
            <a:r>
              <a:rPr lang="pl-PL" sz="2400" b="1" dirty="0"/>
              <a:t>Data Mart HR:</a:t>
            </a:r>
            <a:r>
              <a:rPr lang="pl-PL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Zawiera dane o pracownikach, do których dostęp mają tylko uprawnione osoby. Dzięki temu zapytania działają znacznie szybciej, a struktura danych jest prostsza.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7513738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AB02D5-FF24-6B22-2DED-7CD50CA1B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DD04BFE-A647-6BB3-5229-397BB071F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Warstwa prezentacji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54B374E-7B35-CDCA-3638-0C47AE134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Modelowanie Wielowymiarowe (Schemat Gwiazdy) - </a:t>
            </a:r>
            <a:r>
              <a:rPr lang="pl-PL" sz="2400" dirty="0"/>
              <a:t>W warstwie prezentacji dane najczęściej układa się w tzw. </a:t>
            </a:r>
            <a:r>
              <a:rPr lang="pl-PL" sz="2400" b="1" dirty="0"/>
              <a:t>model wielowymiarowy</a:t>
            </a:r>
            <a:r>
              <a:rPr lang="pl-PL" sz="2400" dirty="0"/>
              <a:t>, który jest intuicyjny dla człowieka: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Fakty:</a:t>
            </a:r>
            <a:r>
              <a:rPr lang="pl-PL" sz="2000" dirty="0"/>
              <a:t> To liczby, które mierzymy (np. kwota sprzedaży, liczba sprzedanych sztuk, czas trwania połączenia).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Wymiary:</a:t>
            </a:r>
            <a:r>
              <a:rPr lang="pl-PL" sz="2000" dirty="0"/>
              <a:t> To kontekst, przez który patrzymy na liczby (np. Czas, Produkt, Sklep, Klient).</a:t>
            </a:r>
            <a:br>
              <a:rPr lang="pl-PL" sz="2000" dirty="0"/>
            </a:br>
            <a:r>
              <a:rPr lang="pl-PL" sz="2000" dirty="0"/>
              <a:t>Dzięki temu użytkownik może łatwo "przeciągać i upuszczać" elementy w narzędziach takich jak Excel czy Power BI, tworząc raporty typu: "Pokaż mi </a:t>
            </a:r>
            <a:r>
              <a:rPr lang="pl-PL" sz="2000" b="1" dirty="0"/>
              <a:t>sprzedaż</a:t>
            </a:r>
            <a:r>
              <a:rPr lang="pl-PL" sz="2000" dirty="0"/>
              <a:t> (fakt) według </a:t>
            </a:r>
            <a:r>
              <a:rPr lang="pl-PL" sz="2000" b="1" dirty="0"/>
              <a:t>kategorii produktu</a:t>
            </a:r>
            <a:r>
              <a:rPr lang="pl-PL" sz="2000" dirty="0"/>
              <a:t> (wymiar) w </a:t>
            </a:r>
            <a:r>
              <a:rPr lang="pl-PL" sz="2000" b="1" dirty="0"/>
              <a:t>podziale na miesiące</a:t>
            </a:r>
            <a:r>
              <a:rPr lang="pl-PL" sz="2000" dirty="0"/>
              <a:t> (wymiar)".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165294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D51B27-C4BC-5331-5B4D-C0B7895AD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E58C7D2-5101-13AF-25E6-81D81508B3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Warstwa prezentacji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67FCD1C-AC34-F6AF-CEB8-78CF6A9C5C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Agregacje i Kalkulacje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Warstwa prezentacji często przechowuje dane już wstępnie przeliczone.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Zamiast liczyć sumę sprzedaży z miliona paragonów za każdym razem, gdy ktoś otwiera raport, system może mieć przygotowane sumy dzienne lub miesięczne.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Tutaj definiuje się również kluczowe wskaźniki efektywności (</a:t>
            </a:r>
            <a:r>
              <a:rPr lang="pl-PL" sz="2000" b="1" dirty="0"/>
              <a:t>KPI</a:t>
            </a:r>
            <a:r>
              <a:rPr lang="pl-PL" sz="2000" dirty="0"/>
              <a:t>), takie jak marża, ROI czy współczynnik rezygnacji (</a:t>
            </a:r>
            <a:r>
              <a:rPr lang="pl-PL" sz="2000" dirty="0" err="1"/>
              <a:t>Churn</a:t>
            </a:r>
            <a:r>
              <a:rPr lang="pl-PL" sz="2000" dirty="0"/>
              <a:t> </a:t>
            </a:r>
            <a:r>
              <a:rPr lang="pl-PL" sz="2000" dirty="0" err="1"/>
              <a:t>Rate</a:t>
            </a:r>
            <a:r>
              <a:rPr lang="pl-PL" sz="2000" dirty="0"/>
              <a:t>), aby każdy w firmie korzystał z tej samej definicji danego wskaźnika.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8351068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FB338B-62A6-F817-A78D-B0EE225B9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B8A52B-F6F9-1B09-B651-8725CACBA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Warstwa prezentacji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069B2C1-A786-D06B-BDC7-8A4A0E8F8C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Bezpieczeństwo i Uprawnienia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To tutaj decyduje się, kto co widzi. Warstwa prezentacji zarządza dostępem: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Kierownik regionalny widzi wyniki tylko dla swoich sklepów.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Pracownik marketingu nie widzi wrażliwych danych finansowych ani numerów PESEL klientów.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03279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FDE13E-E32C-A1CD-86E0-F97EFF79A7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0361F62A-9177-F0AC-980C-06039E3212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Warstwa prezentacji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D48FD03-5323-876D-ADF3-E2D9E630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Narzędzia końcowe (</a:t>
            </a:r>
            <a:r>
              <a:rPr lang="pl-PL" sz="2400" b="1" dirty="0" err="1"/>
              <a:t>Frontend</a:t>
            </a:r>
            <a:r>
              <a:rPr lang="pl-PL" sz="2400" b="1" dirty="0"/>
              <a:t>) - </a:t>
            </a:r>
            <a:r>
              <a:rPr lang="pl-PL" sz="2400" dirty="0"/>
              <a:t>Warstwa prezentacji jest "paliwem" dla różnych narzędzi: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Narzędzia BI:</a:t>
            </a:r>
            <a:r>
              <a:rPr lang="pl-PL" sz="2000" dirty="0"/>
              <a:t> Power BI, Tableau, </a:t>
            </a:r>
            <a:r>
              <a:rPr lang="pl-PL" sz="2000" dirty="0" err="1"/>
              <a:t>Looker</a:t>
            </a:r>
            <a:r>
              <a:rPr lang="pl-PL" sz="2000" dirty="0"/>
              <a:t>, </a:t>
            </a:r>
            <a:r>
              <a:rPr lang="pl-PL" sz="2000" dirty="0" err="1"/>
              <a:t>Qlik</a:t>
            </a:r>
            <a:r>
              <a:rPr lang="pl-PL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Raporty statyczne:</a:t>
            </a:r>
            <a:r>
              <a:rPr lang="pl-PL" sz="2000" dirty="0"/>
              <a:t> Automatycznie generowane PDF-y wysyłane co rano na e-mail.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Ad-hoc </a:t>
            </a:r>
            <a:r>
              <a:rPr lang="pl-PL" sz="2000" b="1" dirty="0" err="1"/>
              <a:t>query</a:t>
            </a:r>
            <a:r>
              <a:rPr lang="pl-PL" sz="2000" b="1" dirty="0"/>
              <a:t>:</a:t>
            </a:r>
            <a:r>
              <a:rPr lang="pl-PL" sz="2000" dirty="0"/>
              <a:t> Możliwość samodzielnego zadawania pytań do bazy przez zaawansowanych analityków.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7494691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6DDFE-AF0B-EDC4-78FC-8DC6AFEBFC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 descr="Obraz zawierający tekst, tablica suchościerna&#10;&#10;Opis wygenerowany automatycznie">
            <a:extLst>
              <a:ext uri="{FF2B5EF4-FFF2-40B4-BE49-F238E27FC236}">
                <a16:creationId xmlns:a16="http://schemas.microsoft.com/office/drawing/2014/main" id="{7896931E-7A0B-CF2A-0DF6-9EF5DF3F12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77" b="6308"/>
          <a:stretch/>
        </p:blipFill>
        <p:spPr>
          <a:xfrm>
            <a:off x="1" y="0"/>
            <a:ext cx="12191999" cy="4777274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03FCD700-32C3-6B5A-E54C-265CC74A2283}"/>
              </a:ext>
            </a:extLst>
          </p:cNvPr>
          <p:cNvSpPr txBox="1"/>
          <p:nvPr/>
        </p:nvSpPr>
        <p:spPr>
          <a:xfrm>
            <a:off x="3487023" y="5180459"/>
            <a:ext cx="5217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Wybór architektury danych</a:t>
            </a:r>
          </a:p>
        </p:txBody>
      </p:sp>
    </p:spTree>
    <p:extLst>
      <p:ext uri="{BB962C8B-B14F-4D97-AF65-F5344CB8AC3E}">
        <p14:creationId xmlns:p14="http://schemas.microsoft.com/office/powerpoint/2010/main" val="125688416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55A54-63E2-1FA6-DEF4-BAC51CD6C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E7E7F30-BA46-7308-408F-60D721F45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Architektura jednowarstwowa (Single-</a:t>
            </a:r>
            <a:r>
              <a:rPr lang="pl-PL" sz="3600" dirty="0" err="1"/>
              <a:t>tier</a:t>
            </a:r>
            <a:r>
              <a:rPr lang="pl-PL" sz="3600" dirty="0"/>
              <a:t>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14375C8-70CC-4403-ADE8-8274A3C707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W tej architekturze nie ma fizycznego rozdzielenia między danymi operacyjnymi a analitycznymi. Raporty są generowane bezpośrednio na systemach, na których pracuje firma (np. bezpośrednio z bazy CRM).</a:t>
            </a:r>
          </a:p>
          <a:p>
            <a:pPr>
              <a:lnSpc>
                <a:spcPct val="150000"/>
              </a:lnSpc>
            </a:pPr>
            <a:r>
              <a:rPr lang="pl-PL" sz="2400" b="1" dirty="0"/>
              <a:t>Jak to działa:</a:t>
            </a:r>
            <a:r>
              <a:rPr lang="pl-PL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Narzędzie raportowe łączy się bezpośrednio z bazą danych OLTP.</a:t>
            </a:r>
          </a:p>
          <a:p>
            <a:pPr>
              <a:lnSpc>
                <a:spcPct val="150000"/>
              </a:lnSpc>
            </a:pPr>
            <a:r>
              <a:rPr lang="pl-PL" sz="2400" b="1" dirty="0"/>
              <a:t>Zalety:</a:t>
            </a:r>
            <a:r>
              <a:rPr lang="pl-PL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Brak kosztów budowy hurtowni, dane są dostępne natychmiast (w czasie rzeczywistym).</a:t>
            </a:r>
          </a:p>
          <a:p>
            <a:pPr>
              <a:lnSpc>
                <a:spcPct val="150000"/>
              </a:lnSpc>
            </a:pPr>
            <a:r>
              <a:rPr lang="pl-PL" sz="2400" b="1" dirty="0"/>
              <a:t>Wady:</a:t>
            </a:r>
            <a:r>
              <a:rPr lang="pl-PL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Ogromne obciążenie systemu produkcyjnego – skomplikowany raport może spowolnić działanie sklepu lub aplikacji. Brak historii danych (widzimy tylko stan obecny) i brak czyszczenia danych.</a:t>
            </a:r>
          </a:p>
          <a:p>
            <a:pPr>
              <a:lnSpc>
                <a:spcPct val="150000"/>
              </a:lnSpc>
            </a:pPr>
            <a:r>
              <a:rPr lang="pl-PL" sz="2400" b="1" dirty="0"/>
              <a:t>Dla kogo:</a:t>
            </a:r>
            <a:r>
              <a:rPr lang="pl-PL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Bardzo małe firmy lub startupy na bardzo wczesnym etapie.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373521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7249DA-4770-C788-4929-AF081D143C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E04E145-A7A2-613F-E960-62C9CEECB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Architektura dwuwarstwowa (</a:t>
            </a:r>
            <a:r>
              <a:rPr lang="pl-PL" sz="3600" dirty="0" err="1"/>
              <a:t>Two-tier</a:t>
            </a:r>
            <a:r>
              <a:rPr lang="pl-PL" sz="3600" dirty="0"/>
              <a:t>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1AD851A-CDE0-07BF-818E-E184803A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70000"/>
              </a:lnSpc>
            </a:pPr>
            <a:r>
              <a:rPr lang="pl-PL" sz="2400" dirty="0"/>
              <a:t>To najpopularniejszy model dla średnich przedsiębiorstw. Wprowadza on fizyczne oddzielenie systemów operacyjnych od analitycznych. Składa się z warstwy źródeł oraz samej hurtowni danych.</a:t>
            </a:r>
          </a:p>
          <a:p>
            <a:pPr>
              <a:lnSpc>
                <a:spcPct val="170000"/>
              </a:lnSpc>
            </a:pPr>
            <a:r>
              <a:rPr lang="pl-PL" sz="2400" b="1" dirty="0"/>
              <a:t>Jak to działa:</a:t>
            </a:r>
            <a:r>
              <a:rPr lang="pl-PL" sz="2400" dirty="0"/>
              <a:t> </a:t>
            </a:r>
          </a:p>
          <a:p>
            <a:pPr lvl="1">
              <a:lnSpc>
                <a:spcPct val="170000"/>
              </a:lnSpc>
            </a:pPr>
            <a:r>
              <a:rPr lang="pl-PL" sz="2000" dirty="0"/>
              <a:t>Dane są kopiowane z systemów źródłowych do hurtowni danych (często nazywanej tu Data </a:t>
            </a:r>
            <a:r>
              <a:rPr lang="pl-PL" sz="2000" dirty="0" err="1"/>
              <a:t>Martem</a:t>
            </a:r>
            <a:r>
              <a:rPr lang="pl-PL" sz="2000" dirty="0"/>
              <a:t>). Pomiędzy nimi występuje proces </a:t>
            </a:r>
            <a:r>
              <a:rPr lang="pl-PL" sz="2000" b="1" dirty="0" err="1"/>
              <a:t>Staging</a:t>
            </a:r>
            <a:r>
              <a:rPr lang="pl-PL" sz="2000" dirty="0"/>
              <a:t>, czyli tymczasowe miejsce, gdzie dane są przygotowywane.</a:t>
            </a:r>
          </a:p>
          <a:p>
            <a:pPr>
              <a:lnSpc>
                <a:spcPct val="170000"/>
              </a:lnSpc>
            </a:pPr>
            <a:r>
              <a:rPr lang="pl-PL" sz="2400" b="1" dirty="0"/>
              <a:t>Zalety:</a:t>
            </a:r>
            <a:r>
              <a:rPr lang="pl-PL" sz="2400" dirty="0"/>
              <a:t> </a:t>
            </a:r>
          </a:p>
          <a:p>
            <a:pPr lvl="1">
              <a:lnSpc>
                <a:spcPct val="170000"/>
              </a:lnSpc>
            </a:pPr>
            <a:r>
              <a:rPr lang="pl-PL" sz="2000" dirty="0"/>
              <a:t>Raportowanie nie obciąża systemów produkcyjnych. Dane są uporządkowane i zintegrowane w jednym miejscu.</a:t>
            </a:r>
          </a:p>
          <a:p>
            <a:pPr>
              <a:lnSpc>
                <a:spcPct val="170000"/>
              </a:lnSpc>
            </a:pPr>
            <a:r>
              <a:rPr lang="pl-PL" sz="2400" b="1" dirty="0"/>
              <a:t>Wady:</a:t>
            </a:r>
            <a:r>
              <a:rPr lang="pl-PL" sz="2400" dirty="0"/>
              <a:t> </a:t>
            </a:r>
          </a:p>
          <a:p>
            <a:pPr lvl="1">
              <a:lnSpc>
                <a:spcPct val="170000"/>
              </a:lnSpc>
            </a:pPr>
            <a:r>
              <a:rPr lang="pl-PL" sz="2000" dirty="0"/>
              <a:t>Trudniejsza w utrzymaniu przy bardzo dużej liczbie źródeł. Brak "czystej" warstwy centralnej (</a:t>
            </a:r>
            <a:r>
              <a:rPr lang="pl-PL" sz="2000" dirty="0" err="1"/>
              <a:t>Core</a:t>
            </a:r>
            <a:r>
              <a:rPr lang="pl-PL" sz="2000" dirty="0"/>
              <a:t> DW) może prowadzić do powstawania niespójnych raportów, jeśli różne działy zaczną tworzyć własne reguły obliczeń.</a:t>
            </a:r>
          </a:p>
          <a:p>
            <a:pPr>
              <a:lnSpc>
                <a:spcPct val="170000"/>
              </a:lnSpc>
            </a:pPr>
            <a:r>
              <a:rPr lang="pl-PL" sz="2400" b="1" dirty="0"/>
              <a:t>Dla kogo:</a:t>
            </a:r>
            <a:r>
              <a:rPr lang="pl-PL" sz="2400" dirty="0"/>
              <a:t> </a:t>
            </a:r>
          </a:p>
          <a:p>
            <a:pPr lvl="1">
              <a:lnSpc>
                <a:spcPct val="170000"/>
              </a:lnSpc>
            </a:pPr>
            <a:r>
              <a:rPr lang="pl-PL" sz="2000" dirty="0"/>
              <a:t>Średnie firmy, które potrzebują solidnej analityki, ale nie mają tysięcy tabel w systemach źródłowych.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21191479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9B85AC-60D6-72BF-2515-C8C59EAA7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6B7072D-2B56-31D8-2385-61534DB13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Architektura trójwarstwowa (Three-</a:t>
            </a:r>
            <a:r>
              <a:rPr lang="pl-PL" sz="3600" dirty="0" err="1"/>
              <a:t>tier</a:t>
            </a:r>
            <a:r>
              <a:rPr lang="pl-PL" sz="3600" dirty="0"/>
              <a:t>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841A7DB-ABE6-358D-34BD-A65896137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70000"/>
              </a:lnSpc>
            </a:pPr>
            <a:r>
              <a:rPr lang="pl-PL" sz="2400" dirty="0"/>
              <a:t>Jest to najbardziej kompletna i profesjonalna architektura, zgodna z metodologią Billa </a:t>
            </a:r>
            <a:r>
              <a:rPr lang="pl-PL" sz="2400" dirty="0" err="1"/>
              <a:t>Inmona</a:t>
            </a:r>
            <a:r>
              <a:rPr lang="pl-PL" sz="2400" dirty="0"/>
              <a:t>. Wprowadza ona dodatkowy poziom separacji, który zapewnia najwyższą jakość danych.</a:t>
            </a:r>
          </a:p>
          <a:p>
            <a:pPr>
              <a:lnSpc>
                <a:spcPct val="170000"/>
              </a:lnSpc>
            </a:pPr>
            <a:r>
              <a:rPr lang="pl-PL" sz="2400" dirty="0"/>
              <a:t>Warstwy w tym modelu to:</a:t>
            </a:r>
          </a:p>
          <a:p>
            <a:pPr lvl="1">
              <a:lnSpc>
                <a:spcPct val="170000"/>
              </a:lnSpc>
            </a:pPr>
            <a:r>
              <a:rPr lang="pl-PL" sz="2000" b="1" dirty="0"/>
              <a:t>Warstwa </a:t>
            </a:r>
            <a:r>
              <a:rPr lang="pl-PL" sz="2000" b="1" dirty="0" err="1"/>
              <a:t>Staging</a:t>
            </a:r>
            <a:r>
              <a:rPr lang="pl-PL" sz="2000" b="1" dirty="0"/>
              <a:t> (Poczekalnia):</a:t>
            </a:r>
            <a:r>
              <a:rPr lang="pl-PL" sz="2000" dirty="0"/>
              <a:t> Surowe dane pobrane ze źródeł. Służy do szybkiego wypchnięcia danych z systemów operacyjnych, aby ich nie obciążać.</a:t>
            </a:r>
          </a:p>
          <a:p>
            <a:pPr lvl="1">
              <a:lnSpc>
                <a:spcPct val="170000"/>
              </a:lnSpc>
            </a:pPr>
            <a:r>
              <a:rPr lang="pl-PL" sz="2000" b="1" dirty="0"/>
              <a:t>Warstwa </a:t>
            </a:r>
            <a:r>
              <a:rPr lang="pl-PL" sz="2000" b="1" dirty="0" err="1"/>
              <a:t>Core</a:t>
            </a:r>
            <a:r>
              <a:rPr lang="pl-PL" sz="2000" b="1" dirty="0"/>
              <a:t> DW (Hurtownia Centralna):</a:t>
            </a:r>
            <a:r>
              <a:rPr lang="pl-PL" sz="2000" dirty="0"/>
              <a:t> Tutaj dane są czyszczone, integrowane i przechowywane w sposób trwały (historyczny). To "serce" systemu, o którym rozmawialiśmy wcześniej.</a:t>
            </a:r>
          </a:p>
          <a:p>
            <a:pPr lvl="1">
              <a:lnSpc>
                <a:spcPct val="170000"/>
              </a:lnSpc>
            </a:pPr>
            <a:r>
              <a:rPr lang="pl-PL" sz="2000" b="1" dirty="0"/>
              <a:t>Warstwa Prezentacji (Data </a:t>
            </a:r>
            <a:r>
              <a:rPr lang="pl-PL" sz="2000" b="1" dirty="0" err="1"/>
              <a:t>Marts</a:t>
            </a:r>
            <a:r>
              <a:rPr lang="pl-PL" sz="2000" b="1" dirty="0"/>
              <a:t>):</a:t>
            </a:r>
            <a:r>
              <a:rPr lang="pl-PL" sz="2000" dirty="0"/>
              <a:t> Dane są stąd pobierane i przekształcane w modele przyjazne dla użytkownika (np. schematy gwiazdy). Każdy dział (Finanse, Sprzedaż) ma swoją "wystawę" danych.</a:t>
            </a:r>
          </a:p>
        </p:txBody>
      </p:sp>
    </p:spTree>
    <p:extLst>
      <p:ext uri="{BB962C8B-B14F-4D97-AF65-F5344CB8AC3E}">
        <p14:creationId xmlns:p14="http://schemas.microsoft.com/office/powerpoint/2010/main" val="153746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95F0B3-8BB9-28A9-6C75-A48DEE94D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8C65E6D-E525-E972-3CB4-529BBC602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Architektura trójwarstwowa (Three-</a:t>
            </a:r>
            <a:r>
              <a:rPr lang="pl-PL" sz="3600" dirty="0" err="1"/>
              <a:t>tier</a:t>
            </a:r>
            <a:r>
              <a:rPr lang="pl-PL" sz="3600" dirty="0"/>
              <a:t>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3562B9F-0C1B-51C8-2D14-BA2ECFFF84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pl-PL" sz="2400" b="1" dirty="0"/>
              <a:t>Zalety:</a:t>
            </a:r>
            <a:r>
              <a:rPr lang="pl-PL" sz="2400" dirty="0"/>
              <a:t> </a:t>
            </a:r>
          </a:p>
          <a:p>
            <a:pPr lvl="1">
              <a:lnSpc>
                <a:spcPct val="170000"/>
              </a:lnSpc>
            </a:pPr>
            <a:r>
              <a:rPr lang="pl-PL" sz="2000" dirty="0"/>
              <a:t>Najwyższa jakość danych, pełna historia zmian, łatwość skalowania i bezpieczeństwo. Zmiana w jednym systemie źródłowym nie psuje wszystkich raportów.</a:t>
            </a:r>
          </a:p>
          <a:p>
            <a:pPr>
              <a:lnSpc>
                <a:spcPct val="170000"/>
              </a:lnSpc>
            </a:pPr>
            <a:r>
              <a:rPr lang="pl-PL" sz="2400" b="1" dirty="0"/>
              <a:t>Wady:</a:t>
            </a:r>
            <a:r>
              <a:rPr lang="pl-PL" sz="2400" dirty="0"/>
              <a:t> </a:t>
            </a:r>
          </a:p>
          <a:p>
            <a:pPr lvl="1">
              <a:lnSpc>
                <a:spcPct val="170000"/>
              </a:lnSpc>
            </a:pPr>
            <a:r>
              <a:rPr lang="pl-PL" sz="2000" dirty="0"/>
              <a:t>Wysoki koszt wdrożenia i utrzymania. Wymaga zespołu specjalistów (inżynierów danych).</a:t>
            </a:r>
          </a:p>
          <a:p>
            <a:pPr>
              <a:lnSpc>
                <a:spcPct val="170000"/>
              </a:lnSpc>
            </a:pPr>
            <a:r>
              <a:rPr lang="pl-PL" sz="2400" b="1" dirty="0"/>
              <a:t>Dla kogo:</a:t>
            </a:r>
            <a:r>
              <a:rPr lang="pl-PL" sz="2400" dirty="0"/>
              <a:t> </a:t>
            </a:r>
          </a:p>
          <a:p>
            <a:pPr lvl="1">
              <a:lnSpc>
                <a:spcPct val="170000"/>
              </a:lnSpc>
            </a:pPr>
            <a:r>
              <a:rPr lang="pl-PL" sz="2000" dirty="0"/>
              <a:t>Duże korporacje i organizacje, dla których dane są kluczowym zasobem strategicznym.</a:t>
            </a:r>
          </a:p>
        </p:txBody>
      </p:sp>
    </p:spTree>
    <p:extLst>
      <p:ext uri="{BB962C8B-B14F-4D97-AF65-F5344CB8AC3E}">
        <p14:creationId xmlns:p14="http://schemas.microsoft.com/office/powerpoint/2010/main" val="1018290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AE7B53-219A-0B75-11A2-2146B65C4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 descr="Obraz zawierający tekst, tablica suchościerna&#10;&#10;Opis wygenerowany automatycznie">
            <a:extLst>
              <a:ext uri="{FF2B5EF4-FFF2-40B4-BE49-F238E27FC236}">
                <a16:creationId xmlns:a16="http://schemas.microsoft.com/office/drawing/2014/main" id="{0B6C306F-05F1-7C15-CCE7-A7D8BB15C6B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77" b="6308"/>
          <a:stretch/>
        </p:blipFill>
        <p:spPr>
          <a:xfrm>
            <a:off x="1" y="0"/>
            <a:ext cx="12191999" cy="4777274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1E882C43-BDD2-9065-B941-985C79C346B4}"/>
              </a:ext>
            </a:extLst>
          </p:cNvPr>
          <p:cNvSpPr txBox="1"/>
          <p:nvPr/>
        </p:nvSpPr>
        <p:spPr>
          <a:xfrm>
            <a:off x="3487023" y="5180459"/>
            <a:ext cx="5217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Modele danych</a:t>
            </a:r>
          </a:p>
        </p:txBody>
      </p:sp>
    </p:spTree>
    <p:extLst>
      <p:ext uri="{BB962C8B-B14F-4D97-AF65-F5344CB8AC3E}">
        <p14:creationId xmlns:p14="http://schemas.microsoft.com/office/powerpoint/2010/main" val="34577340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081C60-9393-D3D6-5404-7FA9BBBA0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BCADE45-6FBE-9B3E-9CAE-73E4DAD98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relacyjny vs model wielowymiarowy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34B074A-350C-BFEE-A23B-A759E51BA3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lang="pl-PL" sz="2400" dirty="0"/>
              <a:t>Model </a:t>
            </a:r>
            <a:r>
              <a:rPr lang="pl-PL" sz="2400" b="1" dirty="0"/>
              <a:t>relacyjny</a:t>
            </a:r>
            <a:r>
              <a:rPr lang="pl-PL" sz="2400" dirty="0"/>
              <a:t> i </a:t>
            </a:r>
            <a:r>
              <a:rPr lang="pl-PL" sz="2400" b="1" dirty="0"/>
              <a:t>wielowymiarowy</a:t>
            </a:r>
            <a:r>
              <a:rPr lang="pl-PL" sz="2400" dirty="0"/>
              <a:t> służą innym celom. </a:t>
            </a:r>
          </a:p>
          <a:p>
            <a:pPr>
              <a:lnSpc>
                <a:spcPct val="170000"/>
              </a:lnSpc>
            </a:pPr>
            <a:r>
              <a:rPr lang="pl-PL" sz="2400" dirty="0"/>
              <a:t>Relacyjny powstał, by </a:t>
            </a:r>
            <a:r>
              <a:rPr lang="pl-PL" sz="2400" b="1" dirty="0"/>
              <a:t>bezpiecznie i szybko obsługiwać transakcje</a:t>
            </a:r>
            <a:r>
              <a:rPr lang="pl-PL" sz="2400" dirty="0"/>
              <a:t>, a wielowymiarowy – by </a:t>
            </a:r>
            <a:r>
              <a:rPr lang="pl-PL" sz="2400" b="1" dirty="0"/>
              <a:t>łatwo analizować dane i wyciągać wnioski</a:t>
            </a:r>
            <a:r>
              <a:rPr lang="pl-PL" sz="2400" dirty="0"/>
              <a:t>. </a:t>
            </a:r>
          </a:p>
          <a:p>
            <a:pPr>
              <a:lnSpc>
                <a:spcPct val="170000"/>
              </a:lnSpc>
            </a:pPr>
            <a:r>
              <a:rPr lang="pl-PL" sz="2400" dirty="0"/>
              <a:t>Problem zaczyna się wtedy, gdy próbujemy robić analitykę narzędziami zaprojektowanymi do transakcji.</a:t>
            </a:r>
          </a:p>
          <a:p>
            <a:pPr lvl="1">
              <a:lnSpc>
                <a:spcPct val="17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144401944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8C0020-22B9-208C-1E2D-62624C31C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19BC0DB-5EB4-CDA8-5378-36A172C2F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relacyjny vs model wielowymiarowy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7D823C6-53B3-F407-DA09-75BF126A7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Model relacyjny (tabele, klucze główne i obce, normalizacja) jest fundamentem systemów OLTP.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minimalizacja redundancji danych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spójność i integralność danych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szybkie operacje INSERT, UPDATE, DELETE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obsługa wielu użytkowników jednocześnie</a:t>
            </a:r>
          </a:p>
          <a:p>
            <a:pPr>
              <a:lnSpc>
                <a:spcPct val="150000"/>
              </a:lnSpc>
            </a:pPr>
            <a:r>
              <a:rPr lang="pl-PL" dirty="0"/>
              <a:t>To idealne podejście dla: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systemów bankowych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sklepów internetowych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systemów ERP i CRM</a:t>
            </a:r>
          </a:p>
          <a:p>
            <a:pPr lvl="1"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00561298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F651AC-6F48-88E4-F036-614C1FC97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35C7BE70-D943-DF1F-7F39-B360E16DE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relacyjny vs model wielowymiarowy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7C26C01B-B57D-AA1E-518F-B485413B32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Model wielowymiarowy został stworzony </a:t>
            </a:r>
            <a:r>
              <a:rPr lang="pl-PL" sz="2400" b="1" dirty="0"/>
              <a:t>specjalnie do analizy danych</a:t>
            </a:r>
            <a:r>
              <a:rPr lang="pl-PL" sz="2400" dirty="0"/>
              <a:t>.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Podstawowe pojęcia: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Fakty – to, co mierzymy (sprzedaż, ilość, koszt)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Wymiary – kontekst analizy (czas, produkt, klient, region)</a:t>
            </a:r>
          </a:p>
          <a:p>
            <a:pPr>
              <a:lnSpc>
                <a:spcPct val="150000"/>
              </a:lnSpc>
            </a:pPr>
            <a:r>
              <a:rPr lang="pl-PL" sz="2400" dirty="0"/>
              <a:t>Najczęstsza forma: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Schemat gwiazdy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schemat płatka śniegu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16631322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2D2BAD-8FC2-3C6B-1858-EE42C447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900C574E-7449-5BBA-5FAF-0219E79B4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relacyjny vs model wielowymiarowy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D12146B6-0A6C-1FBA-9A83-2F45888C30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04657"/>
              </p:ext>
            </p:extLst>
          </p:nvPr>
        </p:nvGraphicFramePr>
        <p:xfrm>
          <a:off x="544286" y="1825624"/>
          <a:ext cx="10809510" cy="42508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03170">
                  <a:extLst>
                    <a:ext uri="{9D8B030D-6E8A-4147-A177-3AD203B41FA5}">
                      <a16:colId xmlns:a16="http://schemas.microsoft.com/office/drawing/2014/main" val="2831476859"/>
                    </a:ext>
                  </a:extLst>
                </a:gridCol>
                <a:gridCol w="3603170">
                  <a:extLst>
                    <a:ext uri="{9D8B030D-6E8A-4147-A177-3AD203B41FA5}">
                      <a16:colId xmlns:a16="http://schemas.microsoft.com/office/drawing/2014/main" val="1613101856"/>
                    </a:ext>
                  </a:extLst>
                </a:gridCol>
                <a:gridCol w="3603170">
                  <a:extLst>
                    <a:ext uri="{9D8B030D-6E8A-4147-A177-3AD203B41FA5}">
                      <a16:colId xmlns:a16="http://schemas.microsoft.com/office/drawing/2014/main" val="1048152683"/>
                    </a:ext>
                  </a:extLst>
                </a:gridCol>
              </a:tblGrid>
              <a:tr h="41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Cecha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Model relacyjny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Model wielowymiarowy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1554663"/>
                  </a:ext>
                </a:extLst>
              </a:tr>
              <a:tr h="41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Główne zastosowanie</a:t>
                      </a:r>
                    </a:p>
                    <a:p>
                      <a:pPr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Transakcje (OLTP)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Analiza (OLAP)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481424"/>
                  </a:ext>
                </a:extLst>
              </a:tr>
              <a:tr h="41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Normalizacja</a:t>
                      </a:r>
                    </a:p>
                    <a:p>
                      <a:pPr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Wysoka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Niska / brak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479197"/>
                  </a:ext>
                </a:extLst>
              </a:tr>
              <a:tr h="41063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Wydajność zapisu</a:t>
                      </a:r>
                    </a:p>
                    <a:p>
                      <a:pPr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Bardzo dobra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Drugorzędna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546978"/>
                  </a:ext>
                </a:extLst>
              </a:tr>
              <a:tr h="41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Wydajność analizy</a:t>
                      </a:r>
                    </a:p>
                    <a:p>
                      <a:pPr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Słaba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Bardzo dobra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250821"/>
                  </a:ext>
                </a:extLst>
              </a:tr>
              <a:tr h="41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Zrozumiałość dla biznesu</a:t>
                      </a:r>
                    </a:p>
                    <a:p>
                      <a:pPr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Niska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Wysoka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6847144"/>
                  </a:ext>
                </a:extLst>
              </a:tr>
              <a:tr h="410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l-PL" dirty="0">
                          <a:effectLst/>
                        </a:rPr>
                        <a:t>Historia danych</a:t>
                      </a:r>
                    </a:p>
                    <a:p>
                      <a:pPr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Trudna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Naturalna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57693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33182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AFB7C-EE4A-BD6F-DBCC-07934F01F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F172540-A894-322F-B939-48926BFF0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gwiazdy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E33C2DE-CCD9-6035-5A2E-6BC7EC380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dirty="0"/>
              <a:t>Model składa się z dwóch rodzajów tabel: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Tabela Faktów (</a:t>
            </a:r>
            <a:r>
              <a:rPr lang="pl-PL" sz="2000" b="1" dirty="0" err="1"/>
              <a:t>Fact</a:t>
            </a:r>
            <a:r>
              <a:rPr lang="pl-PL" sz="2000" b="1" dirty="0"/>
              <a:t> </a:t>
            </a:r>
            <a:r>
              <a:rPr lang="pl-PL" sz="2000" b="1" dirty="0" err="1"/>
              <a:t>Table</a:t>
            </a:r>
            <a:r>
              <a:rPr lang="pl-PL" sz="2000" b="1" dirty="0"/>
              <a:t>) – Centrum gwiazdy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To serce modelu. Przechowuje ona mierzalne, ilościowe dane dotyczące konkretnego zdarzenia biznesowego (np. sprzedaży, logowania, wypłaty z bankomatu).</a:t>
            </a:r>
          </a:p>
          <a:p>
            <a:pPr lvl="2">
              <a:lnSpc>
                <a:spcPct val="150000"/>
              </a:lnSpc>
            </a:pPr>
            <a:r>
              <a:rPr lang="pl-PL" sz="1600" b="1" dirty="0"/>
              <a:t>Co zawiera:</a:t>
            </a:r>
            <a:r>
              <a:rPr lang="pl-PL" sz="1600" dirty="0"/>
              <a:t> Głównie liczby (tzw. miary), takie jak: cena, ilość, marża, czas trwania.</a:t>
            </a:r>
          </a:p>
          <a:p>
            <a:pPr lvl="2">
              <a:lnSpc>
                <a:spcPct val="150000"/>
              </a:lnSpc>
            </a:pPr>
            <a:r>
              <a:rPr lang="pl-PL" sz="1600" b="1" dirty="0"/>
              <a:t>Klucze:</a:t>
            </a:r>
            <a:r>
              <a:rPr lang="pl-PL" sz="1600" dirty="0"/>
              <a:t> Zawiera klucze obce, które łączą ją z tabelami wymiarów.</a:t>
            </a:r>
          </a:p>
          <a:p>
            <a:pPr lvl="2">
              <a:lnSpc>
                <a:spcPct val="150000"/>
              </a:lnSpc>
            </a:pPr>
            <a:r>
              <a:rPr lang="pl-PL" sz="1600" b="1" dirty="0"/>
              <a:t>Charakterystyka:</a:t>
            </a:r>
            <a:r>
              <a:rPr lang="pl-PL" sz="1600" dirty="0"/>
              <a:t> Jest bardzo długa (może mieć miliardy wierszy), ale wąska (mało kolumn).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484160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CF221F-C898-9A76-DA5F-DF9F04363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CEABB9FA-1081-D21E-9CAE-56098F2D8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gwiazdy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E37DFBF-F3E9-67F3-FB76-B6BEBE16F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Tabele Wymiarów (</a:t>
            </a:r>
            <a:r>
              <a:rPr lang="pl-PL" sz="2400" b="1" dirty="0" err="1"/>
              <a:t>Dimension</a:t>
            </a:r>
            <a:r>
              <a:rPr lang="pl-PL" sz="2400" b="1" dirty="0"/>
              <a:t> </a:t>
            </a:r>
            <a:r>
              <a:rPr lang="pl-PL" sz="2400" b="1" dirty="0" err="1"/>
              <a:t>Tables</a:t>
            </a:r>
            <a:r>
              <a:rPr lang="pl-PL" sz="2400" b="1" dirty="0"/>
              <a:t>) – Ramiona gwiazdy - o</a:t>
            </a:r>
            <a:r>
              <a:rPr lang="pl-PL" sz="2400" dirty="0"/>
              <a:t>taczają tabelę faktów i przechowują dane opisowe, które nadają kontekst liczbom.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Co zawierają:</a:t>
            </a:r>
            <a:r>
              <a:rPr lang="pl-PL" sz="2000" dirty="0"/>
              <a:t> Tekstowe atrybuty, np. nazwa produktu, kategoria, imię klienta, miasto, nazwa miesiąca.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Klucze:</a:t>
            </a:r>
            <a:r>
              <a:rPr lang="pl-PL" sz="2000" dirty="0"/>
              <a:t> Każda tabela ma klucz główny, który łączy się z tabelą faktów.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Charakterystyka:</a:t>
            </a:r>
            <a:r>
              <a:rPr lang="pl-PL" sz="2000" dirty="0"/>
              <a:t> Są krótkie (np. tabela sklepów ma tyle wierszy, ile jest sklepów), ale szerokie (wiele kolumn opisowych).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87175958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4EB589-1F19-E3CB-3DBA-F9744EC8F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5B99813-7301-72D4-EF86-53B865A3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gwiazdy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9DF27038-0F3C-B475-AF42-B410577BD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60000"/>
              </a:lnSpc>
            </a:pPr>
            <a:r>
              <a:rPr lang="pl-PL" b="1" dirty="0"/>
              <a:t>Przykład praktyczny: </a:t>
            </a:r>
          </a:p>
          <a:p>
            <a:pPr>
              <a:lnSpc>
                <a:spcPct val="160000"/>
              </a:lnSpc>
            </a:pPr>
            <a:r>
              <a:rPr lang="pl-PL" b="1" dirty="0"/>
              <a:t>Sprzedaż w sklepie - </a:t>
            </a:r>
            <a:r>
              <a:rPr lang="pl-PL" dirty="0"/>
              <a:t>Wyobraźmy sobie analizę sprzedaży:</a:t>
            </a:r>
          </a:p>
          <a:p>
            <a:pPr>
              <a:lnSpc>
                <a:spcPct val="160000"/>
              </a:lnSpc>
            </a:pPr>
            <a:r>
              <a:rPr lang="pl-PL" b="1" dirty="0"/>
              <a:t>Tabela Faktów (Sprzedaż):</a:t>
            </a:r>
            <a:endParaRPr lang="pl-PL" dirty="0"/>
          </a:p>
          <a:p>
            <a:pPr lvl="1">
              <a:lnSpc>
                <a:spcPct val="160000"/>
              </a:lnSpc>
            </a:pPr>
            <a:r>
              <a:rPr lang="pl-PL" dirty="0" err="1"/>
              <a:t>ID_Produktu</a:t>
            </a:r>
            <a:r>
              <a:rPr lang="pl-PL" dirty="0"/>
              <a:t> (klucz)</a:t>
            </a:r>
          </a:p>
          <a:p>
            <a:pPr lvl="1">
              <a:lnSpc>
                <a:spcPct val="160000"/>
              </a:lnSpc>
            </a:pPr>
            <a:r>
              <a:rPr lang="pl-PL" dirty="0" err="1"/>
              <a:t>ID_Czasu</a:t>
            </a:r>
            <a:r>
              <a:rPr lang="pl-PL" dirty="0"/>
              <a:t> (klucz)</a:t>
            </a:r>
          </a:p>
          <a:p>
            <a:pPr lvl="1">
              <a:lnSpc>
                <a:spcPct val="160000"/>
              </a:lnSpc>
            </a:pPr>
            <a:r>
              <a:rPr lang="pl-PL" dirty="0" err="1"/>
              <a:t>ID_Sklepu</a:t>
            </a:r>
            <a:r>
              <a:rPr lang="pl-PL" dirty="0"/>
              <a:t> (klucz)</a:t>
            </a:r>
          </a:p>
          <a:p>
            <a:pPr lvl="1">
              <a:lnSpc>
                <a:spcPct val="160000"/>
              </a:lnSpc>
            </a:pPr>
            <a:r>
              <a:rPr lang="pl-PL" b="1" dirty="0" err="1"/>
              <a:t>Kwota_Sprzedaży</a:t>
            </a:r>
            <a:r>
              <a:rPr lang="pl-PL" dirty="0"/>
              <a:t> (miara)</a:t>
            </a:r>
          </a:p>
          <a:p>
            <a:pPr lvl="1">
              <a:lnSpc>
                <a:spcPct val="160000"/>
              </a:lnSpc>
            </a:pPr>
            <a:r>
              <a:rPr lang="pl-PL" b="1" dirty="0" err="1"/>
              <a:t>Liczba_Sztuk</a:t>
            </a:r>
            <a:r>
              <a:rPr lang="pl-PL" dirty="0"/>
              <a:t> (miara)</a:t>
            </a:r>
          </a:p>
          <a:p>
            <a:pPr>
              <a:lnSpc>
                <a:spcPct val="160000"/>
              </a:lnSpc>
            </a:pPr>
            <a:r>
              <a:rPr lang="pl-PL" b="1" dirty="0"/>
              <a:t>Tabela Wymiaru (Produkt):</a:t>
            </a:r>
            <a:r>
              <a:rPr lang="pl-PL" dirty="0"/>
              <a:t> Nazwa, Marka, Kolor, Rozmiar, Kategoria.</a:t>
            </a:r>
          </a:p>
          <a:p>
            <a:pPr>
              <a:lnSpc>
                <a:spcPct val="160000"/>
              </a:lnSpc>
            </a:pPr>
            <a:r>
              <a:rPr lang="pl-PL" b="1" dirty="0"/>
              <a:t>Tabela Wymiaru (Czas):</a:t>
            </a:r>
            <a:r>
              <a:rPr lang="pl-PL" dirty="0"/>
              <a:t> Data, Dzień tygodnia, Miesiąc, Kwartał, Rok.</a:t>
            </a:r>
          </a:p>
          <a:p>
            <a:pPr>
              <a:lnSpc>
                <a:spcPct val="160000"/>
              </a:lnSpc>
            </a:pPr>
            <a:r>
              <a:rPr lang="pl-PL" b="1" dirty="0"/>
              <a:t>Tabela Wymiaru (Sklep):</a:t>
            </a:r>
            <a:r>
              <a:rPr lang="pl-PL" dirty="0"/>
              <a:t> Miasto, Województwo, Nazwisko kierownika.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43701486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6DF70D-A093-EFDD-BA47-33058A78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BF40FA67-60CC-C5CC-928A-11158657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gwiazdy – dlaczego go wybrać?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F8CF59E6-CDBC-A16E-DFF9-FAD917A8A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60000"/>
              </a:lnSpc>
            </a:pPr>
            <a:r>
              <a:rPr lang="pl-PL" b="1" dirty="0"/>
              <a:t>Prostota dla użytkownika</a:t>
            </a:r>
          </a:p>
          <a:p>
            <a:pPr lvl="1">
              <a:lnSpc>
                <a:spcPct val="160000"/>
              </a:lnSpc>
            </a:pPr>
            <a:r>
              <a:rPr lang="pl-PL" dirty="0"/>
              <a:t>Użytkownik biznesowy nie musi znać skomplikowanych relacji. Chce wiedzieć: "Jaka była </a:t>
            </a:r>
            <a:r>
              <a:rPr lang="pl-PL" b="1" dirty="0"/>
              <a:t>sprzedaż</a:t>
            </a:r>
            <a:r>
              <a:rPr lang="pl-PL" dirty="0"/>
              <a:t> (fakt) dla </a:t>
            </a:r>
            <a:r>
              <a:rPr lang="pl-PL" b="1" dirty="0"/>
              <a:t>produktów marki X</a:t>
            </a:r>
            <a:r>
              <a:rPr lang="pl-PL" dirty="0"/>
              <a:t> (wymiar) w </a:t>
            </a:r>
            <a:r>
              <a:rPr lang="pl-PL" b="1" dirty="0"/>
              <a:t>Warszawie</a:t>
            </a:r>
            <a:r>
              <a:rPr lang="pl-PL" dirty="0"/>
              <a:t> (wymiar)?". Zapytanie jest intuicyjne.</a:t>
            </a:r>
          </a:p>
          <a:p>
            <a:pPr>
              <a:lnSpc>
                <a:spcPct val="160000"/>
              </a:lnSpc>
            </a:pPr>
            <a:r>
              <a:rPr lang="pl-PL" b="1" dirty="0"/>
              <a:t>Wydajność zapytań (Performance)</a:t>
            </a:r>
          </a:p>
          <a:p>
            <a:pPr lvl="1">
              <a:lnSpc>
                <a:spcPct val="160000"/>
              </a:lnSpc>
            </a:pPr>
            <a:r>
              <a:rPr lang="pl-PL" dirty="0"/>
              <a:t>W modelu gwiazdy występuje minimalna liczba połączeń (</a:t>
            </a:r>
            <a:r>
              <a:rPr lang="pl-PL" b="1" dirty="0"/>
              <a:t>JOIN</a:t>
            </a:r>
            <a:r>
              <a:rPr lang="pl-PL" dirty="0"/>
              <a:t>). Aby uzyskać raport, baza danych musi połączyć tabelę faktów z wymiarami tylko raz. </a:t>
            </a:r>
          </a:p>
          <a:p>
            <a:pPr>
              <a:lnSpc>
                <a:spcPct val="160000"/>
              </a:lnSpc>
            </a:pPr>
            <a:r>
              <a:rPr lang="pl-PL" b="1" dirty="0"/>
              <a:t>Optymalizacja pod narzędzia BI</a:t>
            </a:r>
          </a:p>
          <a:p>
            <a:pPr lvl="1">
              <a:lnSpc>
                <a:spcPct val="160000"/>
              </a:lnSpc>
            </a:pPr>
            <a:r>
              <a:rPr lang="pl-PL" dirty="0"/>
              <a:t>Narzędzia takie jak Power BI, Tableau czy Excel są natywnie zaprojektowane do pracy z modelem gwiazdy. Pozwala to na błyskawiczne filtrowanie, agregowanie i "</a:t>
            </a:r>
            <a:r>
              <a:rPr lang="pl-PL" dirty="0" err="1"/>
              <a:t>drill</a:t>
            </a:r>
            <a:r>
              <a:rPr lang="pl-PL" dirty="0"/>
              <a:t>-down" (schodzenie od ogółu do szczegółu, np. od roku do konkretnego dnia).</a:t>
            </a:r>
          </a:p>
          <a:p>
            <a:pPr>
              <a:lnSpc>
                <a:spcPct val="16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14819782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5307EE-84D7-AF0D-AB81-001B4C613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425584AB-D28C-FE4E-8C24-51458CA75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płatka śniegu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748A45F-5210-168A-F4A7-D835BF61F1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Budowa modelu płatka śniegu</a:t>
            </a:r>
          </a:p>
          <a:p>
            <a:pPr lvl="1">
              <a:lnSpc>
                <a:spcPct val="150000"/>
              </a:lnSpc>
            </a:pPr>
            <a:r>
              <a:rPr lang="pl-PL" dirty="0"/>
              <a:t>W modelu gwiazdy wszystkie informacje o wymiarze (np. o produkcie, jego kategorii i producencie) trzymamy w jednej, "szerokiej" tabeli. W modelu płatka śniegu dzielimy tę tabelę na mniejsze:</a:t>
            </a:r>
          </a:p>
          <a:p>
            <a:pPr lvl="2">
              <a:lnSpc>
                <a:spcPct val="150000"/>
              </a:lnSpc>
            </a:pPr>
            <a:r>
              <a:rPr lang="pl-PL" b="1" dirty="0"/>
              <a:t>Tabela Faktów:</a:t>
            </a:r>
            <a:r>
              <a:rPr lang="pl-PL" dirty="0"/>
              <a:t> Pozostaje w centrum (tak jak w gwieździe).</a:t>
            </a:r>
          </a:p>
          <a:p>
            <a:pPr lvl="2">
              <a:lnSpc>
                <a:spcPct val="150000"/>
              </a:lnSpc>
            </a:pPr>
            <a:r>
              <a:rPr lang="pl-PL" b="1" dirty="0"/>
              <a:t>Tabele Wymiarów (Poziom 1):</a:t>
            </a:r>
            <a:r>
              <a:rPr lang="pl-PL" dirty="0"/>
              <a:t> Bezpośrednio połączone z faktami (np. Tabela Produktów).</a:t>
            </a:r>
          </a:p>
          <a:p>
            <a:pPr lvl="2">
              <a:lnSpc>
                <a:spcPct val="150000"/>
              </a:lnSpc>
            </a:pPr>
            <a:r>
              <a:rPr lang="pl-PL" b="1" dirty="0"/>
              <a:t>Tabele Wymiarów (Poziom 2 i kolejne):</a:t>
            </a:r>
            <a:r>
              <a:rPr lang="pl-PL" dirty="0"/>
              <a:t> Połączone z wymiarami poziomu 1 (np. Tabela Kategorii, Tabela Producentów).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8998627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DDA74-A062-0FDA-BB33-00AD24903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9C4F921-097E-C51C-F6D3-7006C70A0F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płatka śniegu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E02B25F-CD02-21E2-BA3F-4F95A388A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l-PL" sz="2600" b="1" dirty="0"/>
              <a:t>Przykład porównawczy: Wymiar "Produkt"</a:t>
            </a:r>
          </a:p>
          <a:p>
            <a:pPr lvl="1">
              <a:lnSpc>
                <a:spcPct val="150000"/>
              </a:lnSpc>
            </a:pPr>
            <a:r>
              <a:rPr lang="pl-PL" sz="2100" b="1" dirty="0"/>
              <a:t>W modelu gwiazdy (</a:t>
            </a:r>
            <a:r>
              <a:rPr lang="pl-PL" sz="2100" b="1" dirty="0" err="1"/>
              <a:t>Zdenormalizowany</a:t>
            </a:r>
            <a:r>
              <a:rPr lang="pl-PL" sz="2100" b="1" dirty="0"/>
              <a:t>):</a:t>
            </a:r>
            <a:br>
              <a:rPr lang="pl-PL" sz="2100" dirty="0"/>
            </a:br>
            <a:r>
              <a:rPr lang="pl-PL" sz="2100" dirty="0"/>
              <a:t>Tabela Produkt zawiera kolumny: </a:t>
            </a:r>
            <a:r>
              <a:rPr lang="pl-PL" sz="2100" dirty="0" err="1"/>
              <a:t>ID_Produktu</a:t>
            </a:r>
            <a:r>
              <a:rPr lang="pl-PL" sz="2100" dirty="0"/>
              <a:t>, Nazwa, Kolor, Kategoria, </a:t>
            </a:r>
            <a:r>
              <a:rPr lang="pl-PL" sz="2100" dirty="0" err="1"/>
              <a:t>Opis_Kategorii</a:t>
            </a:r>
            <a:r>
              <a:rPr lang="pl-PL" sz="2100" dirty="0"/>
              <a:t>, Producent, </a:t>
            </a:r>
            <a:r>
              <a:rPr lang="pl-PL" sz="2100" dirty="0" err="1"/>
              <a:t>Kraj_Producenta</a:t>
            </a:r>
            <a:r>
              <a:rPr lang="pl-PL" sz="2100" dirty="0"/>
              <a:t>.</a:t>
            </a:r>
            <a:br>
              <a:rPr lang="pl-PL" sz="2100" dirty="0"/>
            </a:br>
            <a:r>
              <a:rPr lang="pl-PL" sz="2100" i="1" dirty="0"/>
              <a:t>(Wszystko w jednym miejscu, dane o kategorii powtarzają się przy każdym produkcie).</a:t>
            </a:r>
            <a:endParaRPr lang="pl-PL" sz="2100" dirty="0"/>
          </a:p>
          <a:p>
            <a:pPr lvl="1">
              <a:lnSpc>
                <a:spcPct val="150000"/>
              </a:lnSpc>
            </a:pPr>
            <a:r>
              <a:rPr lang="pl-PL" sz="2100" b="1" dirty="0"/>
              <a:t>W modelu płatka śniegu (Znormalizowany):</a:t>
            </a:r>
            <a:endParaRPr lang="pl-PL" sz="2100" dirty="0"/>
          </a:p>
          <a:p>
            <a:pPr lvl="2">
              <a:lnSpc>
                <a:spcPct val="150000"/>
              </a:lnSpc>
            </a:pPr>
            <a:r>
              <a:rPr lang="pl-PL" sz="2100" dirty="0"/>
              <a:t>Tabela Produkt: </a:t>
            </a:r>
            <a:r>
              <a:rPr lang="pl-PL" sz="2100" dirty="0" err="1"/>
              <a:t>ID_Produktu</a:t>
            </a:r>
            <a:r>
              <a:rPr lang="pl-PL" sz="2100" dirty="0"/>
              <a:t>, Nazwa, </a:t>
            </a:r>
            <a:r>
              <a:rPr lang="pl-PL" sz="2100" dirty="0" err="1"/>
              <a:t>ID_Kategorii</a:t>
            </a:r>
            <a:r>
              <a:rPr lang="pl-PL" sz="2100" dirty="0"/>
              <a:t>, </a:t>
            </a:r>
            <a:r>
              <a:rPr lang="pl-PL" sz="2100" dirty="0" err="1"/>
              <a:t>ID_Producenta</a:t>
            </a:r>
            <a:r>
              <a:rPr lang="pl-PL" sz="2100" dirty="0"/>
              <a:t>.</a:t>
            </a:r>
          </a:p>
          <a:p>
            <a:pPr lvl="2">
              <a:lnSpc>
                <a:spcPct val="150000"/>
              </a:lnSpc>
            </a:pPr>
            <a:r>
              <a:rPr lang="pl-PL" sz="2100" dirty="0"/>
              <a:t>Tabela Kategoria: </a:t>
            </a:r>
            <a:r>
              <a:rPr lang="pl-PL" sz="2100" dirty="0" err="1"/>
              <a:t>ID_Kategorii</a:t>
            </a:r>
            <a:r>
              <a:rPr lang="pl-PL" sz="2100" dirty="0"/>
              <a:t>, </a:t>
            </a:r>
            <a:r>
              <a:rPr lang="pl-PL" sz="2100" dirty="0" err="1"/>
              <a:t>Nazwa_Kategorii</a:t>
            </a:r>
            <a:r>
              <a:rPr lang="pl-PL" sz="2100" dirty="0"/>
              <a:t>, </a:t>
            </a:r>
            <a:r>
              <a:rPr lang="pl-PL" sz="2100" dirty="0" err="1"/>
              <a:t>Opis_Kategorii</a:t>
            </a:r>
            <a:r>
              <a:rPr lang="pl-PL" sz="2100" dirty="0"/>
              <a:t>.</a:t>
            </a:r>
          </a:p>
          <a:p>
            <a:pPr lvl="2">
              <a:lnSpc>
                <a:spcPct val="150000"/>
              </a:lnSpc>
            </a:pPr>
            <a:r>
              <a:rPr lang="pl-PL" sz="2100" dirty="0"/>
              <a:t>Tabela Producent: </a:t>
            </a:r>
            <a:r>
              <a:rPr lang="pl-PL" sz="2100" dirty="0" err="1"/>
              <a:t>ID_Producenta</a:t>
            </a:r>
            <a:r>
              <a:rPr lang="pl-PL" sz="2100" dirty="0"/>
              <a:t>, </a:t>
            </a:r>
            <a:r>
              <a:rPr lang="pl-PL" sz="2100" dirty="0" err="1"/>
              <a:t>Nazwa_Producenta</a:t>
            </a:r>
            <a:r>
              <a:rPr lang="pl-PL" sz="2100" dirty="0"/>
              <a:t>, </a:t>
            </a:r>
            <a:r>
              <a:rPr lang="pl-PL" sz="2100" dirty="0" err="1"/>
              <a:t>ID_Kraju</a:t>
            </a:r>
            <a:r>
              <a:rPr lang="pl-PL" sz="2100" dirty="0"/>
              <a:t>.</a:t>
            </a:r>
          </a:p>
          <a:p>
            <a:pPr lvl="2">
              <a:lnSpc>
                <a:spcPct val="150000"/>
              </a:lnSpc>
            </a:pPr>
            <a:r>
              <a:rPr lang="pl-PL" sz="2100" dirty="0"/>
              <a:t>Tabela Kraj: </a:t>
            </a:r>
            <a:r>
              <a:rPr lang="pl-PL" sz="2100" dirty="0" err="1"/>
              <a:t>ID_Kraju</a:t>
            </a:r>
            <a:r>
              <a:rPr lang="pl-PL" sz="2100" dirty="0"/>
              <a:t>, </a:t>
            </a:r>
            <a:r>
              <a:rPr lang="pl-PL" sz="2100" dirty="0" err="1"/>
              <a:t>Nazwa_Kraju</a:t>
            </a:r>
            <a:r>
              <a:rPr lang="pl-PL" sz="2100" dirty="0"/>
              <a:t>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381664208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F5D8F7-15A2-92A4-3EBF-6144A9EBB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B192FC1-C5D4-11EB-12F1-9AC9A1A69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płatka śniegu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63B865FA-56EE-B4D2-79FA-95366B47A6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Zalety modelu płatka śniegu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Oszczędność miejsca (Storage):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Dzięki eliminacji redundancji (powtarzania się tych samych tekstów, np. nazw kategorii) baza zajmuje mniej miejsca na dysku.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Łatwiejsza aktualizacja (</a:t>
            </a:r>
            <a:r>
              <a:rPr lang="pl-PL" sz="2000" b="1" dirty="0" err="1"/>
              <a:t>Maintenance</a:t>
            </a:r>
            <a:r>
              <a:rPr lang="pl-PL" sz="2000" b="1" dirty="0"/>
              <a:t>):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Jeśli zmieni się nazwa kategorii, zmieniasz ją w jednym wierszu w tabeli </a:t>
            </a:r>
            <a:r>
              <a:rPr lang="pl-PL" dirty="0"/>
              <a:t>Kategoria</a:t>
            </a:r>
            <a:r>
              <a:rPr lang="pl-PL" sz="1600" dirty="0"/>
              <a:t>, a nie w tysiącach wierszy w tabeli </a:t>
            </a:r>
            <a:r>
              <a:rPr lang="pl-PL" dirty="0"/>
              <a:t>Produkt</a:t>
            </a:r>
            <a:r>
              <a:rPr lang="pl-PL" sz="1600" dirty="0"/>
              <a:t>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Zgodność ze standardami bazodanowymi: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Jest bliższy klasycznemu modelowaniu relacyjnemu, co niektórzy inżynierowie danych preferują ze względu na porządek w strukturze.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80587802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43B4D3-F338-3415-DAFC-898A8C56C6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B2E6419-54F8-3F48-9CC4-AA76859FA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płatka śniegu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FCAFCEB-AAB1-202A-9B38-576172C48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Wady modelu płatka śniegu (Dlaczego gwiazda jest częściej wybierana?)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Niższa wydajność (Performance):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Aby wygenerować prosty raport, baza danych musi wykonać znacznie więcej połączeń (</a:t>
            </a:r>
            <a:r>
              <a:rPr lang="pl-PL" dirty="0"/>
              <a:t>JOIN</a:t>
            </a:r>
            <a:r>
              <a:rPr lang="pl-PL" sz="1600" dirty="0"/>
              <a:t>). Każdy dodatkowy "poziom" płatka śniegu to kolejny JOIN, co przy milionach rekordów spowalnia zapytania.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Złożoność dla użytkownika: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Użytkownik biznesowy (lub narzędzie BI) musi nawigować przez gąszcz tabel, co utrudnia samodzielne tworzenie raportów (</a:t>
            </a:r>
            <a:r>
              <a:rPr lang="pl-PL" sz="1600" dirty="0" err="1"/>
              <a:t>Self</a:t>
            </a:r>
            <a:r>
              <a:rPr lang="pl-PL" sz="1600" dirty="0"/>
              <a:t>-Service BI).</a:t>
            </a:r>
          </a:p>
          <a:p>
            <a:pPr lvl="1">
              <a:lnSpc>
                <a:spcPct val="150000"/>
              </a:lnSpc>
            </a:pPr>
            <a:r>
              <a:rPr lang="pl-PL" sz="2000" b="1" dirty="0"/>
              <a:t>Trudniejsze zarządzanie:</a:t>
            </a:r>
            <a:r>
              <a:rPr lang="pl-PL" sz="2000" dirty="0"/>
              <a:t> </a:t>
            </a:r>
          </a:p>
          <a:p>
            <a:pPr lvl="2">
              <a:lnSpc>
                <a:spcPct val="150000"/>
              </a:lnSpc>
            </a:pPr>
            <a:r>
              <a:rPr lang="pl-PL" sz="1600" dirty="0"/>
              <a:t>Większa liczba tabel oznacza więcej relacji do pilnowania i bardziej skomplikowane procesy ETL.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40039522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8A4A7C-730D-1E73-8B77-C3BA1A90E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3E4F22B-DF4F-4931-FF15-E24C21AF0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Model płatka śniegu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1382464-7689-74E7-920B-C2636107FA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400" b="1" dirty="0"/>
              <a:t>Kiedy stosować model płatka śniegu?</a:t>
            </a:r>
          </a:p>
          <a:p>
            <a:pPr lvl="1">
              <a:lnSpc>
                <a:spcPct val="150000"/>
              </a:lnSpc>
            </a:pPr>
            <a:r>
              <a:rPr lang="pl-PL" sz="2000" dirty="0"/>
              <a:t>Mimo że model gwiazdy jest standardem w nowoczesnych hurtowniach, płatek śniegu ma swoje miejsce, gdy:</a:t>
            </a:r>
          </a:p>
          <a:p>
            <a:pPr lvl="2">
              <a:lnSpc>
                <a:spcPct val="150000"/>
              </a:lnSpc>
            </a:pPr>
            <a:r>
              <a:rPr lang="pl-PL" sz="1600" b="1" dirty="0"/>
              <a:t>Wymiary są ogromne:</a:t>
            </a:r>
            <a:r>
              <a:rPr lang="pl-PL" sz="1600" dirty="0"/>
              <a:t> Gdy tabela wymiarów ma miliony wierszy i setki kolumn, normalizacja może realnie pomóc w zarządzaniu rozmiarem.</a:t>
            </a:r>
          </a:p>
          <a:p>
            <a:pPr lvl="2">
              <a:lnSpc>
                <a:spcPct val="150000"/>
              </a:lnSpc>
            </a:pPr>
            <a:r>
              <a:rPr lang="pl-PL" sz="1600" b="1" dirty="0"/>
              <a:t>Narzędzia BI tego wymagają:</a:t>
            </a:r>
            <a:r>
              <a:rPr lang="pl-PL" sz="1600" dirty="0"/>
              <a:t> Niektóre starsze lub specyficzne narzędzia analityczne lepiej radzą sobie ze strukturami znormalizowanymi.</a:t>
            </a:r>
          </a:p>
          <a:p>
            <a:pPr lvl="2">
              <a:lnSpc>
                <a:spcPct val="150000"/>
              </a:lnSpc>
            </a:pPr>
            <a:r>
              <a:rPr lang="pl-PL" sz="1600" b="1" dirty="0"/>
              <a:t>Współdzielone wymiary:</a:t>
            </a:r>
            <a:r>
              <a:rPr lang="pl-PL" sz="1600" dirty="0"/>
              <a:t> Gdy wiele tabel faktów korzysta z tych samych pod-wymiarów (np. wspólna tabela geografii dla sprzedaży i logistyki).</a:t>
            </a:r>
          </a:p>
          <a:p>
            <a:pPr>
              <a:lnSpc>
                <a:spcPct val="150000"/>
              </a:lnSpc>
            </a:pP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193014478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1B035D-C712-B199-920E-AD104619D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48DBB66-94AE-4DF1-52E2-042BFA5BB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Gwiazda vs płatek śniegu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ECE667B8-9DD3-56A4-17F7-E3F86DF1A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pl-PL" sz="2000" b="1" dirty="0"/>
              <a:t>Gwiazda: </a:t>
            </a:r>
          </a:p>
          <a:p>
            <a:pPr lvl="1">
              <a:lnSpc>
                <a:spcPct val="160000"/>
              </a:lnSpc>
            </a:pPr>
            <a:r>
              <a:rPr lang="pl-PL" sz="1600" dirty="0"/>
              <a:t>Tabele wymiarów są </a:t>
            </a:r>
            <a:r>
              <a:rPr lang="pl-PL" sz="1600" dirty="0" err="1"/>
              <a:t>zdenormalizowane</a:t>
            </a:r>
            <a:r>
              <a:rPr lang="pl-PL" sz="1600" dirty="0"/>
              <a:t> (wszystko o produkcie jest w jednej tabeli). Jest szybsza i prostsza.</a:t>
            </a:r>
          </a:p>
          <a:p>
            <a:pPr>
              <a:lnSpc>
                <a:spcPct val="160000"/>
              </a:lnSpc>
            </a:pPr>
            <a:r>
              <a:rPr lang="pl-PL" sz="2000" b="1" dirty="0"/>
              <a:t>Płatek Śniegu: </a:t>
            </a:r>
          </a:p>
          <a:p>
            <a:pPr lvl="1">
              <a:lnSpc>
                <a:spcPct val="160000"/>
              </a:lnSpc>
            </a:pPr>
            <a:r>
              <a:rPr lang="pl-PL" sz="1600" dirty="0"/>
              <a:t>Tabele wymiarów są znormalizowane (np. kategoria produktu jest w osobnej tabeli połączonej z tabelą produktów). Oszczędza miejsce na dysku, ale jest wolniejszy w analizie przez dodatkowe JOIN-y.</a:t>
            </a:r>
          </a:p>
        </p:txBody>
      </p:sp>
    </p:spTree>
    <p:extLst>
      <p:ext uri="{BB962C8B-B14F-4D97-AF65-F5344CB8AC3E}">
        <p14:creationId xmlns:p14="http://schemas.microsoft.com/office/powerpoint/2010/main" val="12552424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8FE704-19A2-2C03-4E6B-96A1CDF695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4214A92-897D-1C52-C3B0-1554D644B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Gwiazda vs płatek śniegu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graphicFrame>
        <p:nvGraphicFramePr>
          <p:cNvPr id="4" name="Symbol zastępczy zawartości 3">
            <a:extLst>
              <a:ext uri="{FF2B5EF4-FFF2-40B4-BE49-F238E27FC236}">
                <a16:creationId xmlns:a16="http://schemas.microsoft.com/office/drawing/2014/main" id="{80D2D500-66DF-F35C-EA9F-42C1551E15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3451419"/>
              </p:ext>
            </p:extLst>
          </p:nvPr>
        </p:nvGraphicFramePr>
        <p:xfrm>
          <a:off x="838200" y="1825625"/>
          <a:ext cx="10515597" cy="2931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1313471654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146209601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920463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dirty="0">
                          <a:effectLst/>
                        </a:rPr>
                        <a:t>Cecha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Model Gwiazdy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Model Płatka Śniegu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1173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>
                          <a:effectLst/>
                        </a:rPr>
                        <a:t>Normalizacja</a:t>
                      </a:r>
                    </a:p>
                    <a:p>
                      <a:pPr algn="l"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Nie (Zdenormalizowany)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Tak (Znormalizowany)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0084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>
                          <a:effectLst/>
                        </a:rPr>
                        <a:t>Liczba JOIN-ów</a:t>
                      </a:r>
                    </a:p>
                    <a:p>
                      <a:pPr algn="l"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Mała (Szybkość)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Duża (Wolniejsze działanie)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647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>
                          <a:effectLst/>
                        </a:rPr>
                        <a:t>Zrozumiałość</a:t>
                      </a:r>
                    </a:p>
                    <a:p>
                      <a:pPr algn="l"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Bardzo wysoka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Średnia/Niska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89551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pl-PL" b="1" dirty="0">
                          <a:effectLst/>
                        </a:rPr>
                        <a:t>Zastosowanie</a:t>
                      </a:r>
                    </a:p>
                    <a:p>
                      <a:pPr algn="l">
                        <a:buNone/>
                      </a:pP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Standard w BI i Data Martach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Specyficzne przypadki, duże wymiary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9013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450419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F605F3-26B8-FFD6-0A3F-337743D2B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 descr="Obraz zawierający tekst, tablica suchościerna&#10;&#10;Opis wygenerowany automatycznie">
            <a:extLst>
              <a:ext uri="{FF2B5EF4-FFF2-40B4-BE49-F238E27FC236}">
                <a16:creationId xmlns:a16="http://schemas.microsoft.com/office/drawing/2014/main" id="{86A2EC10-FBE7-08C5-3FC6-6E57AF6AF25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77" b="6308"/>
          <a:stretch/>
        </p:blipFill>
        <p:spPr>
          <a:xfrm>
            <a:off x="1" y="0"/>
            <a:ext cx="12191999" cy="4777274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934FC0D0-8B2E-5E21-8610-99ABF93C9D62}"/>
              </a:ext>
            </a:extLst>
          </p:cNvPr>
          <p:cNvSpPr txBox="1"/>
          <p:nvPr/>
        </p:nvSpPr>
        <p:spPr>
          <a:xfrm>
            <a:off x="3487023" y="5180459"/>
            <a:ext cx="5217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Slowly</a:t>
            </a:r>
            <a:r>
              <a:rPr lang="pl-P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Changing</a:t>
            </a:r>
            <a:r>
              <a:rPr lang="pl-P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l-PL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Dimensions</a:t>
            </a:r>
            <a:r>
              <a:rPr lang="pl-P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(SCD)</a:t>
            </a:r>
          </a:p>
        </p:txBody>
      </p:sp>
    </p:spTree>
    <p:extLst>
      <p:ext uri="{BB962C8B-B14F-4D97-AF65-F5344CB8AC3E}">
        <p14:creationId xmlns:p14="http://schemas.microsoft.com/office/powerpoint/2010/main" val="201566471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9DFEFB-6459-CA35-8E34-79BA1CA0C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F23763C6-D095-23F6-F603-DC13E90EE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SCD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925701C-78E5-A973-8580-05A5D2C7F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000" dirty="0"/>
              <a:t>to jedno z kluczowych zagadnień w hurtowniach danych, bo odpowiada na bardzo proste, a jednocześnie krytyczne pytanie biznesowe:</a:t>
            </a:r>
          </a:p>
          <a:p>
            <a:pPr>
              <a:lnSpc>
                <a:spcPct val="150000"/>
              </a:lnSpc>
            </a:pPr>
            <a:endParaRPr lang="pl-PL" sz="2000" dirty="0"/>
          </a:p>
          <a:p>
            <a:pPr marL="0" indent="0" algn="ctr">
              <a:lnSpc>
                <a:spcPct val="150000"/>
              </a:lnSpc>
              <a:buNone/>
            </a:pPr>
            <a:r>
              <a:rPr lang="pl-PL" sz="2000" b="1" dirty="0"/>
              <a:t>Czy raport sprzed roku ma pokazywać dane tak, 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pl-PL" sz="2000" b="1" dirty="0"/>
              <a:t>jak wyglądały wtedy, czy tak jak wyglądają dziś?</a:t>
            </a:r>
          </a:p>
          <a:p>
            <a:pPr marL="0" indent="0" algn="ctr">
              <a:lnSpc>
                <a:spcPct val="150000"/>
              </a:lnSpc>
              <a:buNone/>
            </a:pPr>
            <a:endParaRPr lang="pl-PL" sz="2000" dirty="0"/>
          </a:p>
          <a:p>
            <a:pPr>
              <a:lnSpc>
                <a:spcPct val="150000"/>
              </a:lnSpc>
            </a:pPr>
            <a:r>
              <a:rPr lang="pl-PL" sz="2000" dirty="0"/>
              <a:t>SCD opisuje </a:t>
            </a:r>
            <a:r>
              <a:rPr lang="pl-PL" sz="2000" b="1" dirty="0"/>
              <a:t>jak przechowywać zmiany atrybutów wymiarów w czasie</a:t>
            </a:r>
            <a:r>
              <a:rPr lang="pl-PL" sz="2000" dirty="0"/>
              <a:t>, np. zmianę adresu klienta, stanowiska pracownika czy kategorii produktu.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4269492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4B4809-1CE0-144C-0108-D41C7B57F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AFC0807-0651-DA62-165B-7C0C8D527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SCD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C45BD4EC-C9DC-5C08-7C82-6DC10B32C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/>
              <a:t>Dlaczego SCD są potrzebne?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Systemy OLTP:</a:t>
            </a:r>
          </a:p>
          <a:p>
            <a:pPr lvl="2">
              <a:lnSpc>
                <a:spcPct val="150000"/>
              </a:lnSpc>
            </a:pPr>
            <a:r>
              <a:rPr lang="pl-PL" sz="1400" b="1" dirty="0"/>
              <a:t>nadpisują dane</a:t>
            </a:r>
            <a:r>
              <a:rPr lang="pl-PL" sz="1400" dirty="0"/>
              <a:t> (UPDATE)</a:t>
            </a:r>
          </a:p>
          <a:p>
            <a:pPr lvl="2">
              <a:lnSpc>
                <a:spcPct val="150000"/>
              </a:lnSpc>
            </a:pPr>
            <a:r>
              <a:rPr lang="pl-PL" sz="1400" dirty="0"/>
              <a:t>nie przechowują historii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Analityka:</a:t>
            </a:r>
          </a:p>
          <a:p>
            <a:pPr lvl="2">
              <a:lnSpc>
                <a:spcPct val="150000"/>
              </a:lnSpc>
            </a:pPr>
            <a:r>
              <a:rPr lang="pl-PL" sz="1400" b="1" dirty="0"/>
              <a:t>musi znać historię</a:t>
            </a:r>
            <a:endParaRPr lang="pl-PL" sz="1400" dirty="0"/>
          </a:p>
          <a:p>
            <a:pPr lvl="2">
              <a:lnSpc>
                <a:spcPct val="150000"/>
              </a:lnSpc>
            </a:pPr>
            <a:r>
              <a:rPr lang="pl-PL" sz="1400" dirty="0"/>
              <a:t>porównuje okresy w czasie</a:t>
            </a:r>
          </a:p>
          <a:p>
            <a:pPr lvl="2">
              <a:lnSpc>
                <a:spcPct val="150000"/>
              </a:lnSpc>
            </a:pPr>
            <a:r>
              <a:rPr lang="pl-PL" sz="1400" dirty="0"/>
              <a:t>analizuje zmiany zachowań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Bez SCD:</a:t>
            </a:r>
          </a:p>
          <a:p>
            <a:pPr lvl="2">
              <a:lnSpc>
                <a:spcPct val="150000"/>
              </a:lnSpc>
            </a:pPr>
            <a:r>
              <a:rPr lang="pl-PL" sz="1400" dirty="0"/>
              <a:t>raporty historyczne są błędne</a:t>
            </a:r>
          </a:p>
          <a:p>
            <a:pPr lvl="2">
              <a:lnSpc>
                <a:spcPct val="150000"/>
              </a:lnSpc>
            </a:pPr>
            <a:r>
              <a:rPr lang="pl-PL" sz="1400" dirty="0"/>
              <a:t>nie da się analizować trendów</a:t>
            </a:r>
            <a:endParaRPr lang="pl-PL" sz="1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2762106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645C9-227A-111B-78F0-5A1E32F685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DA7EC319-A573-55ED-1D7D-598A595F4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SCD </a:t>
            </a:r>
            <a:r>
              <a:rPr lang="pl-PL" sz="3600" dirty="0" err="1"/>
              <a:t>Type</a:t>
            </a:r>
            <a:r>
              <a:rPr lang="pl-PL" sz="3600" dirty="0"/>
              <a:t> 0 – brak zmian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9A945E-E7BE-3F2D-6C53-BCAFBFACB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/>
              <a:t>Zmiany są ignorowane.</a:t>
            </a:r>
            <a:endParaRPr lang="pl-PL" sz="2000" dirty="0"/>
          </a:p>
          <a:p>
            <a:pPr lvl="1">
              <a:lnSpc>
                <a:spcPct val="150000"/>
              </a:lnSpc>
            </a:pPr>
            <a:r>
              <a:rPr lang="pl-PL" sz="1600" dirty="0"/>
              <a:t>Dane w wymiarze nigdy się nie zmieniają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Wartość pierwsza jest „święta”</a:t>
            </a:r>
          </a:p>
          <a:p>
            <a:pPr>
              <a:lnSpc>
                <a:spcPct val="150000"/>
              </a:lnSpc>
            </a:pPr>
            <a:r>
              <a:rPr lang="pl-PL" sz="2000" b="1" dirty="0"/>
              <a:t>Przykład:</a:t>
            </a:r>
            <a:endParaRPr lang="pl-PL" sz="2000" dirty="0"/>
          </a:p>
          <a:p>
            <a:pPr lvl="1">
              <a:lnSpc>
                <a:spcPct val="150000"/>
              </a:lnSpc>
            </a:pPr>
            <a:r>
              <a:rPr lang="pl-PL" sz="1600" dirty="0"/>
              <a:t>data urodzenia klienta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numer PESEL</a:t>
            </a:r>
          </a:p>
          <a:p>
            <a:pPr>
              <a:lnSpc>
                <a:spcPct val="150000"/>
              </a:lnSpc>
            </a:pPr>
            <a:r>
              <a:rPr lang="pl-PL" sz="2000" b="1" dirty="0"/>
              <a:t>Zalety:</a:t>
            </a:r>
            <a:r>
              <a:rPr lang="pl-PL" sz="2000" dirty="0"/>
              <a:t> prostota</a:t>
            </a:r>
          </a:p>
          <a:p>
            <a:pPr>
              <a:lnSpc>
                <a:spcPct val="150000"/>
              </a:lnSpc>
            </a:pPr>
            <a:r>
              <a:rPr lang="pl-PL" sz="2000" b="1" dirty="0"/>
              <a:t>Wady:</a:t>
            </a:r>
            <a:r>
              <a:rPr lang="pl-PL" sz="2000" dirty="0"/>
              <a:t> brak elastyczności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660130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F22439-0283-B737-552A-5FF45A928F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28C4CC81-DA1E-3BF4-4DE0-DBC7E4862A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SCD </a:t>
            </a:r>
            <a:r>
              <a:rPr lang="pl-PL" sz="3600" dirty="0" err="1"/>
              <a:t>Type</a:t>
            </a:r>
            <a:r>
              <a:rPr lang="pl-PL" sz="3600" dirty="0"/>
              <a:t> 1 – nadpisanie (bez historii)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68E5F31-0516-99E8-8799-CD1069FA3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sz="2000" b="1" dirty="0"/>
              <a:t>Nowa wartość zastępuje starą.</a:t>
            </a:r>
            <a:endParaRPr lang="pl-PL" sz="2000" dirty="0"/>
          </a:p>
          <a:p>
            <a:pPr lvl="1">
              <a:lnSpc>
                <a:spcPct val="150000"/>
              </a:lnSpc>
            </a:pPr>
            <a:r>
              <a:rPr lang="pl-PL" sz="1600" dirty="0"/>
              <a:t>Historia </a:t>
            </a:r>
            <a:r>
              <a:rPr lang="pl-PL" sz="1600" b="1" dirty="0"/>
              <a:t>nie jest zachowana</a:t>
            </a:r>
            <a:endParaRPr lang="pl-PL" sz="1600" dirty="0"/>
          </a:p>
          <a:p>
            <a:pPr lvl="1">
              <a:lnSpc>
                <a:spcPct val="150000"/>
              </a:lnSpc>
            </a:pPr>
            <a:r>
              <a:rPr lang="pl-PL" sz="1600" dirty="0"/>
              <a:t>Najczęściej spotykany w systemach OLTP</a:t>
            </a:r>
          </a:p>
          <a:p>
            <a:pPr>
              <a:lnSpc>
                <a:spcPct val="150000"/>
              </a:lnSpc>
            </a:pPr>
            <a:r>
              <a:rPr lang="pl-PL" sz="2000" b="1" dirty="0"/>
              <a:t>Przykład:</a:t>
            </a:r>
            <a:endParaRPr lang="pl-PL" sz="2000" dirty="0"/>
          </a:p>
          <a:p>
            <a:pPr lvl="1">
              <a:lnSpc>
                <a:spcPct val="150000"/>
              </a:lnSpc>
            </a:pPr>
            <a:r>
              <a:rPr lang="pl-PL" sz="1600" dirty="0"/>
              <a:t>poprawka literówki w nazwie klienta</a:t>
            </a:r>
          </a:p>
          <a:p>
            <a:pPr lvl="1">
              <a:lnSpc>
                <a:spcPct val="150000"/>
              </a:lnSpc>
            </a:pPr>
            <a:r>
              <a:rPr lang="pl-PL" sz="1600" dirty="0"/>
              <a:t>korekta błędnego kodu pocztowego</a:t>
            </a:r>
          </a:p>
          <a:p>
            <a:pPr>
              <a:lnSpc>
                <a:spcPct val="150000"/>
              </a:lnSpc>
            </a:pPr>
            <a:r>
              <a:rPr lang="pl-PL" sz="2000" b="1" dirty="0"/>
              <a:t>Zastosowanie:</a:t>
            </a:r>
            <a:r>
              <a:rPr lang="pl-PL" sz="2000" dirty="0"/>
              <a:t> gdy historia nie ma znaczenia</a:t>
            </a:r>
          </a:p>
          <a:p>
            <a:pPr>
              <a:lnSpc>
                <a:spcPct val="150000"/>
              </a:lnSpc>
            </a:pPr>
            <a:r>
              <a:rPr lang="pl-PL" sz="2000" b="1" dirty="0"/>
              <a:t>Ryzyko:</a:t>
            </a:r>
            <a:r>
              <a:rPr lang="pl-PL" sz="2000" dirty="0"/>
              <a:t> raporty historyczne zmieniają się wstecz</a:t>
            </a:r>
            <a:endParaRPr lang="pl-PL" sz="20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680137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A8D965-FFBC-888A-DFA0-37C101004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86B37372-3A0E-A69A-9D46-C4FF0AD2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SCD </a:t>
            </a:r>
            <a:r>
              <a:rPr lang="pl-PL" sz="3600" dirty="0" err="1"/>
              <a:t>Type</a:t>
            </a:r>
            <a:r>
              <a:rPr lang="pl-PL" sz="3600" dirty="0"/>
              <a:t> 2 – pełna historia (najważniejszy)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A5171378-B5EC-8E21-21AF-3DD390C9B3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Każda zmiana tworzy nowy rekord - </a:t>
            </a:r>
            <a:r>
              <a:rPr lang="pl-PL" dirty="0"/>
              <a:t>To </a:t>
            </a:r>
            <a:r>
              <a:rPr lang="pl-PL" b="1" dirty="0"/>
              <a:t>złoty standard hurtowni danych</a:t>
            </a:r>
            <a:r>
              <a:rPr lang="pl-PL" dirty="0"/>
              <a:t>.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Jak to działa:</a:t>
            </a:r>
            <a:endParaRPr lang="pl-PL" dirty="0"/>
          </a:p>
          <a:p>
            <a:pPr lvl="2">
              <a:lnSpc>
                <a:spcPct val="150000"/>
              </a:lnSpc>
            </a:pPr>
            <a:r>
              <a:rPr lang="pl-PL" dirty="0"/>
              <a:t>każdy rekord ma: </a:t>
            </a:r>
          </a:p>
          <a:p>
            <a:pPr lvl="3">
              <a:lnSpc>
                <a:spcPct val="150000"/>
              </a:lnSpc>
            </a:pPr>
            <a:r>
              <a:rPr lang="pl-PL" dirty="0"/>
              <a:t>klucz techniczny (</a:t>
            </a:r>
            <a:r>
              <a:rPr lang="pl-PL" dirty="0" err="1"/>
              <a:t>surrogate</a:t>
            </a:r>
            <a:r>
              <a:rPr lang="pl-PL" dirty="0"/>
              <a:t> </a:t>
            </a:r>
            <a:r>
              <a:rPr lang="pl-PL" dirty="0" err="1"/>
              <a:t>key</a:t>
            </a:r>
            <a:r>
              <a:rPr lang="pl-PL" dirty="0"/>
              <a:t>)</a:t>
            </a:r>
          </a:p>
          <a:p>
            <a:pPr lvl="3">
              <a:lnSpc>
                <a:spcPct val="150000"/>
              </a:lnSpc>
            </a:pPr>
            <a:r>
              <a:rPr lang="pl-PL" dirty="0"/>
              <a:t>datę od / do</a:t>
            </a:r>
          </a:p>
          <a:p>
            <a:pPr lvl="3">
              <a:lnSpc>
                <a:spcPct val="150000"/>
              </a:lnSpc>
            </a:pPr>
            <a:r>
              <a:rPr lang="pl-PL" dirty="0"/>
              <a:t>flagę „czy aktualny”</a:t>
            </a:r>
          </a:p>
          <a:p>
            <a:pPr lvl="1">
              <a:lnSpc>
                <a:spcPct val="150000"/>
              </a:lnSpc>
            </a:pPr>
            <a:r>
              <a:rPr lang="pl-PL" b="1" dirty="0"/>
              <a:t>Przykład:</a:t>
            </a:r>
          </a:p>
          <a:p>
            <a:pPr lvl="1"/>
            <a:endParaRPr lang="pl-PL" dirty="0">
              <a:effectLst/>
            </a:endParaRPr>
          </a:p>
        </p:txBody>
      </p:sp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4EA66A5D-500A-9E6E-4437-AECB18A90A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200708"/>
              </p:ext>
            </p:extLst>
          </p:nvPr>
        </p:nvGraphicFramePr>
        <p:xfrm>
          <a:off x="2541451" y="5487610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21834345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556324343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95122719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005478460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6899906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 err="1">
                          <a:effectLst/>
                        </a:rPr>
                        <a:t>ID_Klient</a:t>
                      </a:r>
                      <a:endParaRPr lang="pl-PL" dirty="0"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Miasto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Data_od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Data_do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Aktualny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665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101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Kraków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2022-01-01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2024-05-31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09369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Gdańsk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2024-06-01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>
                          <a:effectLst/>
                        </a:rPr>
                        <a:t>NULL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pl-PL" dirty="0">
                          <a:effectLst/>
                        </a:rPr>
                        <a:t>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225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6870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855839-18AF-5C69-9F25-91C86472E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76B67F0A-B4CD-20A7-4542-2645FB163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/>
              <a:t>SCD </a:t>
            </a:r>
            <a:r>
              <a:rPr lang="pl-PL" sz="3600" dirty="0" err="1"/>
              <a:t>Type</a:t>
            </a:r>
            <a:r>
              <a:rPr lang="pl-PL" sz="3600" dirty="0"/>
              <a:t> 3 – ograniczona historia</a:t>
            </a:r>
            <a:endParaRPr lang="pl-PL" sz="3600" dirty="0"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24EB224-B4D4-B72B-1C14-1566983B3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80"/>
            <a:ext cx="10515600" cy="4867614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l-PL" b="1" dirty="0"/>
              <a:t>Historia w kolumnach.</a:t>
            </a:r>
            <a:endParaRPr lang="pl-PL" dirty="0"/>
          </a:p>
          <a:p>
            <a:pPr lvl="1">
              <a:lnSpc>
                <a:spcPct val="150000"/>
              </a:lnSpc>
            </a:pPr>
            <a:r>
              <a:rPr lang="pl-PL" dirty="0"/>
              <a:t>przechowywana jest tylko </a:t>
            </a:r>
            <a:r>
              <a:rPr lang="pl-PL" b="1" dirty="0"/>
              <a:t>jedna poprzednia wartość</a:t>
            </a:r>
            <a:endParaRPr lang="pl-PL" dirty="0"/>
          </a:p>
          <a:p>
            <a:pPr lvl="1">
              <a:lnSpc>
                <a:spcPct val="150000"/>
              </a:lnSpc>
            </a:pPr>
            <a:r>
              <a:rPr lang="pl-PL" dirty="0"/>
              <a:t>brak pełnej osi czasu</a:t>
            </a:r>
          </a:p>
          <a:p>
            <a:pPr>
              <a:lnSpc>
                <a:spcPct val="150000"/>
              </a:lnSpc>
            </a:pPr>
            <a:r>
              <a:rPr lang="pl-PL" b="1" dirty="0"/>
              <a:t>Przykład:</a:t>
            </a:r>
            <a:endParaRPr lang="pl-PL" dirty="0"/>
          </a:p>
          <a:p>
            <a:pPr lvl="1">
              <a:lnSpc>
                <a:spcPct val="150000"/>
              </a:lnSpc>
            </a:pPr>
            <a:r>
              <a:rPr lang="pl-PL" dirty="0" err="1"/>
              <a:t>Region_Aktualny</a:t>
            </a:r>
            <a:endParaRPr lang="pl-PL" dirty="0"/>
          </a:p>
          <a:p>
            <a:pPr lvl="1">
              <a:lnSpc>
                <a:spcPct val="150000"/>
              </a:lnSpc>
            </a:pPr>
            <a:r>
              <a:rPr lang="pl-PL" dirty="0" err="1"/>
              <a:t>Region_Poprzedni</a:t>
            </a:r>
            <a:endParaRPr lang="pl-PL" dirty="0"/>
          </a:p>
          <a:p>
            <a:pPr>
              <a:lnSpc>
                <a:spcPct val="150000"/>
              </a:lnSpc>
            </a:pPr>
            <a:r>
              <a:rPr lang="pl-PL" b="1" dirty="0"/>
              <a:t>Zastosowanie:</a:t>
            </a:r>
            <a:r>
              <a:rPr lang="pl-PL" dirty="0"/>
              <a:t> szybkie porównania „przed vs po”</a:t>
            </a:r>
          </a:p>
          <a:p>
            <a:pPr>
              <a:lnSpc>
                <a:spcPct val="150000"/>
              </a:lnSpc>
            </a:pPr>
            <a:r>
              <a:rPr lang="pl-PL" b="1" dirty="0"/>
              <a:t>Ograniczenie:</a:t>
            </a:r>
            <a:r>
              <a:rPr lang="pl-PL" dirty="0"/>
              <a:t> brak pełnej historii</a:t>
            </a:r>
          </a:p>
          <a:p>
            <a:pPr lvl="1"/>
            <a:endParaRPr lang="pl-PL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2749400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ADC92D-0282-8240-C32A-273708032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 descr="Obraz zawierający tekst, tablica suchościerna&#10;&#10;Opis wygenerowany automatycznie">
            <a:extLst>
              <a:ext uri="{FF2B5EF4-FFF2-40B4-BE49-F238E27FC236}">
                <a16:creationId xmlns:a16="http://schemas.microsoft.com/office/drawing/2014/main" id="{BDCFA1E8-8F9F-E6CD-45DF-0A5F5C464E0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4977" b="6308"/>
          <a:stretch/>
        </p:blipFill>
        <p:spPr>
          <a:xfrm>
            <a:off x="1" y="0"/>
            <a:ext cx="12191999" cy="4777274"/>
          </a:xfrm>
          <a:prstGeom prst="rect">
            <a:avLst/>
          </a:prstGeom>
        </p:spPr>
      </p:pic>
      <p:sp>
        <p:nvSpPr>
          <p:cNvPr id="10" name="pole tekstowe 9">
            <a:extLst>
              <a:ext uri="{FF2B5EF4-FFF2-40B4-BE49-F238E27FC236}">
                <a16:creationId xmlns:a16="http://schemas.microsoft.com/office/drawing/2014/main" id="{05F345AA-5767-1EE1-FD69-249BDC3F7378}"/>
              </a:ext>
            </a:extLst>
          </p:cNvPr>
          <p:cNvSpPr txBox="1"/>
          <p:nvPr/>
        </p:nvSpPr>
        <p:spPr>
          <a:xfrm>
            <a:off x="3487023" y="5180459"/>
            <a:ext cx="521795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Podsumowanie</a:t>
            </a:r>
          </a:p>
        </p:txBody>
      </p:sp>
    </p:spTree>
    <p:extLst>
      <p:ext uri="{BB962C8B-B14F-4D97-AF65-F5344CB8AC3E}">
        <p14:creationId xmlns:p14="http://schemas.microsoft.com/office/powerpoint/2010/main" val="96282189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2E24A9F-B90A-6377-BB09-6291A78F8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AA956E42-A3BD-D7CF-8DD9-4EBFE169A4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910" y="424118"/>
            <a:ext cx="10515600" cy="1001559"/>
          </a:xfrm>
        </p:spPr>
        <p:txBody>
          <a:bodyPr>
            <a:normAutofit/>
          </a:bodyPr>
          <a:lstStyle/>
          <a:p>
            <a:r>
              <a:rPr lang="pl-PL" sz="3600" dirty="0">
                <a:latin typeface="+mn-lt"/>
                <a:cs typeface="Times New Roman" panose="02020603050405020304" pitchFamily="18" charset="0"/>
              </a:rPr>
              <a:t>Podsumowanie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18724E00-8A5D-A080-B15C-3E707C7EC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568" y="1324179"/>
            <a:ext cx="11223522" cy="4911157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pl-PL" sz="2000" dirty="0"/>
              <a:t>Definicje hurtowni danych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Cechy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OLTP vs OLAP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Cel hurtowni danych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Architektura – źródła danych</a:t>
            </a:r>
          </a:p>
          <a:p>
            <a:pPr>
              <a:lnSpc>
                <a:spcPct val="150000"/>
              </a:lnSpc>
            </a:pPr>
            <a:r>
              <a:rPr lang="pl-PL" sz="2000" dirty="0" err="1"/>
              <a:t>Core</a:t>
            </a:r>
            <a:r>
              <a:rPr lang="pl-PL" sz="2000" dirty="0"/>
              <a:t> DW, warstwa prezentacji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Architektura jedno, dwu i trzy warstwowa</a:t>
            </a:r>
          </a:p>
          <a:p>
            <a:pPr>
              <a:lnSpc>
                <a:spcPct val="150000"/>
              </a:lnSpc>
            </a:pPr>
            <a:r>
              <a:rPr lang="pl-PL" sz="2000" dirty="0"/>
              <a:t>Modele danych – gwiazdy, płatka śniegu</a:t>
            </a:r>
          </a:p>
          <a:p>
            <a:pPr>
              <a:lnSpc>
                <a:spcPct val="150000"/>
              </a:lnSpc>
            </a:pPr>
            <a:r>
              <a:rPr lang="pl-PL" sz="2000" dirty="0" err="1"/>
              <a:t>Slowly</a:t>
            </a:r>
            <a:r>
              <a:rPr lang="pl-PL" sz="2000" dirty="0"/>
              <a:t> </a:t>
            </a:r>
            <a:r>
              <a:rPr lang="pl-PL" sz="2000" dirty="0" err="1"/>
              <a:t>Changing</a:t>
            </a:r>
            <a:r>
              <a:rPr lang="pl-PL" sz="2000" dirty="0"/>
              <a:t> </a:t>
            </a:r>
            <a:r>
              <a:rPr lang="pl-PL" sz="2000" dirty="0" err="1"/>
              <a:t>Dimension</a:t>
            </a:r>
            <a:endParaRPr lang="pl-PL" sz="2000" dirty="0"/>
          </a:p>
          <a:p>
            <a:pPr>
              <a:lnSpc>
                <a:spcPct val="150000"/>
              </a:lnSpc>
            </a:pPr>
            <a:endParaRPr lang="pl-PL" sz="2000" dirty="0"/>
          </a:p>
          <a:p>
            <a:pPr>
              <a:lnSpc>
                <a:spcPct val="150000"/>
              </a:lnSpc>
            </a:pPr>
            <a:endParaRPr lang="pl-PL" sz="100" dirty="0"/>
          </a:p>
        </p:txBody>
      </p:sp>
    </p:spTree>
    <p:extLst>
      <p:ext uri="{BB962C8B-B14F-4D97-AF65-F5344CB8AC3E}">
        <p14:creationId xmlns:p14="http://schemas.microsoft.com/office/powerpoint/2010/main" val="4265100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6D0C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6C56DA25-0D6B-27EE-7AD2-0CE2793CF5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1879" y="2592198"/>
            <a:ext cx="3168242" cy="1009840"/>
          </a:xfrm>
        </p:spPr>
        <p:txBody>
          <a:bodyPr/>
          <a:lstStyle/>
          <a:p>
            <a:r>
              <a:rPr lang="pl-PL" dirty="0">
                <a:latin typeface="Times New Roman" panose="02020603050405020304" pitchFamily="18" charset="0"/>
                <a:cs typeface="Times New Roman" panose="02020603050405020304" pitchFamily="18" charset="0"/>
              </a:rPr>
              <a:t>Dziękuję</a:t>
            </a:r>
          </a:p>
        </p:txBody>
      </p:sp>
      <p:sp>
        <p:nvSpPr>
          <p:cNvPr id="3" name="Podtytuł 2">
            <a:extLst>
              <a:ext uri="{FF2B5EF4-FFF2-40B4-BE49-F238E27FC236}">
                <a16:creationId xmlns:a16="http://schemas.microsoft.com/office/drawing/2014/main" id="{A8E0AD0C-60D7-E8CB-0D33-5EDCEED5E53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l-PL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za uwagę</a:t>
            </a:r>
          </a:p>
          <a:p>
            <a:endParaRPr lang="pl-PL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0393636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kiet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</TotalTime>
  <Words>3966</Words>
  <Application>Microsoft Office PowerPoint</Application>
  <PresentationFormat>Panoramiczny</PresentationFormat>
  <Paragraphs>426</Paragraphs>
  <Slides>59</Slides>
  <Notes>0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59</vt:i4>
      </vt:variant>
    </vt:vector>
  </HeadingPairs>
  <TitlesOfParts>
    <vt:vector size="64" baseType="lpstr">
      <vt:lpstr>Arial</vt:lpstr>
      <vt:lpstr>Calibri</vt:lpstr>
      <vt:lpstr>Calibri Light</vt:lpstr>
      <vt:lpstr>Times New Roman</vt:lpstr>
      <vt:lpstr>Motyw pakietu Office</vt:lpstr>
      <vt:lpstr>Architektura i modele hurtowni danych</vt:lpstr>
      <vt:lpstr>Hurtowania danych - definicja</vt:lpstr>
      <vt:lpstr>Hurtowania danych - cechy</vt:lpstr>
      <vt:lpstr>Hurtowania danych - cechy</vt:lpstr>
      <vt:lpstr>OLTP vs OLAP</vt:lpstr>
      <vt:lpstr>OLTP vs OLAP</vt:lpstr>
      <vt:lpstr>OLTP vs OLAP</vt:lpstr>
      <vt:lpstr>CEL</vt:lpstr>
      <vt:lpstr>CEL</vt:lpstr>
      <vt:lpstr>Prezentacja programu PowerPoint</vt:lpstr>
      <vt:lpstr>Źródła danych</vt:lpstr>
      <vt:lpstr>Źródła danych</vt:lpstr>
      <vt:lpstr>Źródła danych</vt:lpstr>
      <vt:lpstr>Źródła danych</vt:lpstr>
      <vt:lpstr>Źródła danych</vt:lpstr>
      <vt:lpstr>Jak dane trafiają do hurtowni?</vt:lpstr>
      <vt:lpstr>Core Data Warehouse (Core DW)</vt:lpstr>
      <vt:lpstr>Core Data Warehouse (Core DW)</vt:lpstr>
      <vt:lpstr>Core Data Warehouse (Core DW)</vt:lpstr>
      <vt:lpstr>Core Data Warehouse (Core DW)</vt:lpstr>
      <vt:lpstr>Core Data Warehouse (Core DW)</vt:lpstr>
      <vt:lpstr>Core Data Warehouse (Core DW)</vt:lpstr>
      <vt:lpstr>Warstwa prezentacji</vt:lpstr>
      <vt:lpstr>Warstwa prezentacji</vt:lpstr>
      <vt:lpstr>Warstwa prezentacji</vt:lpstr>
      <vt:lpstr>Warstwa prezentacji</vt:lpstr>
      <vt:lpstr>Warstwa prezentacji</vt:lpstr>
      <vt:lpstr>Warstwa prezentacji</vt:lpstr>
      <vt:lpstr>Prezentacja programu PowerPoint</vt:lpstr>
      <vt:lpstr>Architektura jednowarstwowa (Single-tier)</vt:lpstr>
      <vt:lpstr>Architektura dwuwarstwowa (Two-tier)</vt:lpstr>
      <vt:lpstr>Architektura trójwarstwowa (Three-tier)</vt:lpstr>
      <vt:lpstr>Architektura trójwarstwowa (Three-tier)</vt:lpstr>
      <vt:lpstr>Prezentacja programu PowerPoint</vt:lpstr>
      <vt:lpstr>Model relacyjny vs model wielowymiarowy</vt:lpstr>
      <vt:lpstr>Model relacyjny vs model wielowymiarowy</vt:lpstr>
      <vt:lpstr>Model relacyjny vs model wielowymiarowy</vt:lpstr>
      <vt:lpstr>Model relacyjny vs model wielowymiarowy</vt:lpstr>
      <vt:lpstr>Model gwiazdy</vt:lpstr>
      <vt:lpstr>Model gwiazdy</vt:lpstr>
      <vt:lpstr>Model gwiazdy</vt:lpstr>
      <vt:lpstr>Model gwiazdy – dlaczego go wybrać?</vt:lpstr>
      <vt:lpstr>Model płatka śniegu</vt:lpstr>
      <vt:lpstr>Model płatka śniegu</vt:lpstr>
      <vt:lpstr>Model płatka śniegu</vt:lpstr>
      <vt:lpstr>Model płatka śniegu</vt:lpstr>
      <vt:lpstr>Model płatka śniegu</vt:lpstr>
      <vt:lpstr>Gwiazda vs płatek śniegu</vt:lpstr>
      <vt:lpstr>Gwiazda vs płatek śniegu</vt:lpstr>
      <vt:lpstr>Prezentacja programu PowerPoint</vt:lpstr>
      <vt:lpstr>SCD</vt:lpstr>
      <vt:lpstr>SCD</vt:lpstr>
      <vt:lpstr>SCD Type 0 – brak zmian</vt:lpstr>
      <vt:lpstr>SCD Type 1 – nadpisanie (bez historii)</vt:lpstr>
      <vt:lpstr>SCD Type 2 – pełna historia (najważniejszy)</vt:lpstr>
      <vt:lpstr>SCD Type 3 – ograniczona historia</vt:lpstr>
      <vt:lpstr>Prezentacja programu PowerPoint</vt:lpstr>
      <vt:lpstr>Podsumowanie</vt:lpstr>
      <vt:lpstr>Dziękuję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Tutaj zamieść tytuł</dc:title>
  <dc:creator>Agata Antoniewicz</dc:creator>
  <cp:lastModifiedBy>Przemyslaw Starosta</cp:lastModifiedBy>
  <cp:revision>4</cp:revision>
  <dcterms:created xsi:type="dcterms:W3CDTF">2022-09-22T11:46:31Z</dcterms:created>
  <dcterms:modified xsi:type="dcterms:W3CDTF">2026-06-19T10:47:44Z</dcterms:modified>
</cp:coreProperties>
</file>